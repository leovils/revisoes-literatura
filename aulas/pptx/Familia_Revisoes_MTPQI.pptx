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7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6914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◊◊◊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 FAMÍLIA 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600" b="1" kern="0" spc="6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REVISÕES DE LITERATURA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029200" y="3931920"/>
            <a:ext cx="210312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035040" y="3904488"/>
            <a:ext cx="73152" cy="7315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Quando e como usar cada uma — guia operacional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Métodos e Técnicas de Pesquisa Quantitativa 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852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Programa de Pós-Graduação em Administração · UNINOVE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Prof. Dr. Leonardo Vils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Mapa que faltava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Existem mais de 20 tipos de revisão de literatura. A maioria dos mestrandos confunde os termos, escolhe a abordagem errada — ou apresenta como sistemática uma revisão que, na verdade, é narrativa.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Este material reúne 19 abordagens em formato operacional: o que é, quando usar, quando NÃO usar, passo a passo, software, armadilhas e exemplos.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303520" cy="411480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67512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AO FINAL, VOCÊ DEVE SABER: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240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Qual abordagem combina com minha pergunta de pesquisa?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Como executá-la com rigor metodológico?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4251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Como evitar os erros que levam à rejeição em revisão por pares?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As Cinco Famílias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35128" y="1463040"/>
            <a:ext cx="2194560" cy="4389120"/>
          </a:xfrm>
          <a:prstGeom prst="rect">
            <a:avLst/>
          </a:prstGeom>
          <a:solidFill>
            <a:srgbClr val="242440"/>
          </a:solidFill>
          <a:ln w="190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35128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26568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TRADICIONAIS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6648" y="3520440"/>
            <a:ext cx="731520" cy="0"/>
          </a:xfrm>
          <a:prstGeom prst="line">
            <a:avLst/>
          </a:prstGeom>
          <a:noFill/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18008" y="3749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Argumento e ensaio. Sem protocolo formal.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6568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 abordagens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66848" y="1463040"/>
            <a:ext cx="2194560" cy="4389120"/>
          </a:xfrm>
          <a:prstGeom prst="rect">
            <a:avLst/>
          </a:prstGeom>
          <a:solidFill>
            <a:srgbClr val="242440"/>
          </a:solidFill>
          <a:ln w="19050">
            <a:solidFill>
              <a:srgbClr val="E8B8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666848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8B86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II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2758288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COM PROTOCOLO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98368" y="3520440"/>
            <a:ext cx="731520" cy="0"/>
          </a:xfrm>
          <a:prstGeom prst="line">
            <a:avLst/>
          </a:prstGeom>
          <a:noFill/>
          <a:ln w="12700">
            <a:solidFill>
              <a:srgbClr val="E8B8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849728" y="3749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Sistemáticas, replicáveis, transparentes.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58288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B86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 abordagens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98568" y="1463040"/>
            <a:ext cx="2194560" cy="4389120"/>
          </a:xfrm>
          <a:prstGeom prst="rect">
            <a:avLst/>
          </a:prstGeom>
          <a:solidFill>
            <a:srgbClr val="242440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98568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III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5090008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QUANTITATIVAS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30088" y="3520440"/>
            <a:ext cx="73152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181448" y="3749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literatura como dado. Bibliometria, meta-análise, LDA.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90008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 técnicas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30288" y="1463040"/>
            <a:ext cx="2194560" cy="4389120"/>
          </a:xfrm>
          <a:prstGeom prst="rect">
            <a:avLst/>
          </a:prstGeom>
          <a:solidFill>
            <a:srgbClr val="242440"/>
          </a:solidFill>
          <a:ln w="19050">
            <a:solidFill>
              <a:srgbClr val="E8B8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330288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8B86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IV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7421728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SÍNTESES QUALI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61808" y="3520440"/>
            <a:ext cx="731520" cy="0"/>
          </a:xfrm>
          <a:prstGeom prst="line">
            <a:avLst/>
          </a:prstGeom>
          <a:noFill/>
          <a:ln w="12700">
            <a:solidFill>
              <a:srgbClr val="E8B8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513168" y="3749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Interpretação além do somatório.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21728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B86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 abordagens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62008" y="1463040"/>
            <a:ext cx="2194560" cy="4389120"/>
          </a:xfrm>
          <a:prstGeom prst="rect">
            <a:avLst/>
          </a:prstGeom>
          <a:solidFill>
            <a:srgbClr val="242440"/>
          </a:solidFill>
          <a:ln w="190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662008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</a:t>
            </a:r>
            <a:endParaRPr lang="en-US" sz="6400" dirty="0"/>
          </a:p>
        </p:txBody>
      </p:sp>
      <p:sp>
        <p:nvSpPr>
          <p:cNvPr id="30" name="Text 28"/>
          <p:cNvSpPr/>
          <p:nvPr/>
        </p:nvSpPr>
        <p:spPr>
          <a:xfrm>
            <a:off x="9753448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FRAMEWORKS ADMIN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393528" y="3520440"/>
            <a:ext cx="731520" cy="0"/>
          </a:xfrm>
          <a:prstGeom prst="line">
            <a:avLst/>
          </a:prstGeom>
          <a:noFill/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844888" y="3749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TCCM, SPAR-4-SLR, ADO. Específicos para business.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53448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 frameworks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Qual escolher? — árvore de decisão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Pergunte-se, em ordem: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◆ Pergunta confirmatória sobre efeito de X em 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Sistemática (SLR) + Meta-análise se houver evidência quantitativa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◆ Pergunta exploratória ampla — "o que se sabe sobre X?"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Revisão de Escopo (Scoping Review)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◆ Por que e em que contexto uma intervenção funciona?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389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Revisão Realista (lógica C–M–O)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120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◆ Integrar evidência de naturezas distintas?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532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Revisão Integrativa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◆ Mapear estrutura intelectual/social/conceitual de campo grande?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103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Bibliometria (cocitação + acoplamento + coword + coautoria)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◆ Sintetizar muitos estudos qualitativos?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246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Síntese Temática ou Meta-etnografia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◆ Já existem várias SLRs sobre o tema?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4389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Umbrella Review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5120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◆ Revisão em business/management com framework do campo?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5532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TCCM, SPAR-4-SLR ou 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Combinações são bem-vindas: bibliometria + SLR é cada vez mais comum em journals top.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Sete Princípios Transversais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Independente da abordagem escolhida, estes elevam a qualidade e reduzem rejeição em revisão por pares.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Pergunta de pesquisa clara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PICO, PICOC, SPIDER, CIMO, TCCM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Protocolo explícito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Reproducibilidade é inegociável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Bases adequadas e justificadas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WoS + Scopus se complementam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Strings de busca testadas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983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Garbage in, garbage out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093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Dois revisores na triagem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Cego, com kappa de Cohen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69748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30936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8660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Avaliação de qualidade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CASP, MMAT, ROBIS, Newcastle-Ottawa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65760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3093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8660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Reporte conforme guideline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PRISMA, eMERGe, RAMESES, MARS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029200" y="1828800"/>
            <a:ext cx="0" cy="320040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FAMÍLIA 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24688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Revisões Tradicionais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0" y="3657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Argumento e ensaio. Sem protocolo formal — mas com valor argumentativo e didático insubstituível.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5212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 abordagens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Narrativa (tradicional)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TRADICIONAL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Síntese da literatura conduzida com critérios pessoais do autor, sem protocolo explícito de busca, seleção ou avaliação de qualidade. É a forma mais antiga e mais publicada de revisão.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Capítulos introdutórios de teses e dissertações (contextualização)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Apresentar um panorama abrangente de um campo amplo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Conectar ideias de áreas distintas em ensaios reflexivos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se busca evidência cumulativa (use sistemática)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se quer mapear a extensão de um campo (use escopo ou bibliometria)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Definir o tema e os contornos do argumento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Levantar literatura de referência (sem critério replicável obrigatório)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Organizar por temas, períodos ou correntes teóricas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Construir argumento crítico-reflexivo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Apontar lacunas e direções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Word, gerenciador de referências (Mendeley, Zotero, EndNote).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Viés de confirmação (citar só o que reforça a tese)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Narrativa (tradicional)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GERAL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Snyder, H. (2019). Literature review as a research methodology: An overview and guidelines. Journal of Business Research, 104, 333–339.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OPERACIONAL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Juntunen, M. &amp; Lehenkari, M. (2021). A narrative literature review process for an academic business research thesis. Studies in Higher Education, 46(2), 330–342.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EDITORIAL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Hodgkinson, G. P. &amp; Ford, J. K. (2014). Narrative, meta-analytic, and systematic reviews: What are the differences and why do they matter? Journal of Organizational Behavior, 35(S1), S1–S5.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Crítica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TRADICIONAL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Avalia criticamente a qualidade conceitual e metodológica da literatura existente, posicionando-se de forma argumentativa em relação ao corpus. Não busca exaustividade, mas sim leitura analítica em profundidade.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questionar pressupostos consolidados em um campo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o objetivo é desestabilizar um paradigma dominante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Em artigos teóricos que propõem novas lentes interpretativas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o objetivo é descritivo ou cumulativo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sínteses quantitativas (use meta-análise)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Definir o construto/teoria a ser examinado criticamente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Mapear obras representativas das principais correntes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Identificar contradições, gaps lógicos ou empíricos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Construir crítica fundamentada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Propor reposicionamento conceitual ou agenda de pesquisa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Mendeley, Zotero, NVivo (codificação temática opcional).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Crítica sem proposição construtiva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Crítica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APLICADA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Cropanzano, R. &amp; Mitchell, M. S. (2005). Social exchange theory: An interdisciplinary review. Journal of Management, 31(6), 874–900.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4* · Qualis 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AVANÇADA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Cropanzano, R., Anthony, E. L., Daniels, S. R. &amp; Hall, A. V. (2017). Social exchange theory: A critical review with theoretical remedies. Academy of Management Annals, 11(1), 479–516.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4*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METODOLÓGICA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Wright, A. &amp; Michailova, S. (2023). Critical literature reviews: A critique and actionable advice. Management Learning, 54(2), 177–197.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Estado da Arte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TRADICIONAL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Revisão que descreve o que se sabe e o que se faz hoje em um campo, com foco nas contribuições mais recentes e nas tendências em curso. Pode ser narrativa ou semi-sistemática.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Posicionar leitor sobre fronteira atual de um tema emergente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Capítulos introdutórios de teses sobre temas com produção recente intensa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Relatórios técnicos para órgãos de fomento e empresas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sínteses cumulativas de evidência (use sistemática/meta-análise)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mapear estrutura intelectual histórica (use cocitação)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Delimitar o tema e a janela temporal recente (geralmente 5–10 anos)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Levantar literatura por busca em bases e em journals-chave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Organizar por sub-temas, métodos ou correntes recentes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Identificar tendências e direções emergentes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Apontar agenda futura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Bases de dados (Web of Science, Scopus), gerenciador de referências.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Excesso de descritividade sem síntese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Estado da Arte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BIBLIOMETRIA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Donthu, N., Kumar, S., Mukherjee, D., Pandey, N. &amp; Lim, W. M. (2021). How to conduct a bibliometric analysis: An overview and guidelines. Journal of Business Research, 133, 285–296.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REVIEWS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Kunisch, S., Denyer, D., Bartunek, J. M., Menz, M. &amp; Cardinal, L. B. (2023). Review research as scientific inquiry. Organizational Research Methods, 26(1), 3–45.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Ensaio Teórico-Conceitual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TRADICIONAL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Constrói um argumento teórico original a partir do diálogo com a literatura, podendo propor um novo construto, modelo conceitual ou framework. A revisão serve à construção teórica, não é fim em si.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propor um novo construto ou framework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conectar teorias de campos distintos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reposicionar um fenômeno sob nova lente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descrever uma área (use estado da arte)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sintetizar evidência empírica (use sistemática/meta-análise)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Identificar puzzle teórico ou inconsistência na literatura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Selecionar lentes teóricas relevantes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Articular o argumento com base no diálogo crítico com a literatura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Propor proposições teóricas e/ou framework conceitual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Discutir implicações e agenda empírica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Word, Mendeley/Zotero. Ferramentas de modelagem (Lucidchart, draw.io) para frameworks.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Confundir ensaio com revisão narrativa simples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Ensaio Teórico-Conceitual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Whetten, D. A. (1989). What constitutes a theoretical contribution? Academy of Management Review, 14(4), 490–495.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4* · Qualis 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CONSTRUTO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Suddaby, R. (2010). Construct clarity in theories of management and organization. Academy of Management Review, 35(3), 346–357.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4*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FORMATO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Cornelissen, J. (2017). Editor's comments: Developing propositions, a process model, or a typology? Academy of Management Review, 42(1), 1–9.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4* · 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II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029200" y="1828800"/>
            <a:ext cx="0" cy="320040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FAMÍLIA II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24688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Revisões com Protocolo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0" y="3657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Sistemáticas, replicáveis, transparentes. Padrão do evidence-based management.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5212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 abordagens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Sistemática (SLR)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 PROTOCOLO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Revisão que segue protocolo explícito, transparente e replicável para responder uma pergunta de pesquisa específica, minimizando viés. Em management, popularizada por Tranfield et al. (2003).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Pergunta confirmatória bem delimitada (ex.: efeito de X sobre Y)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há corpo de evidência suficiente para sintetizar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se busca subsidiar decisão (evidence-based management)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mapeamento amplo de campo emergente (use escopo)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a literatura é heterogênea demais para síntese (considere integrativa)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Formular pergunta com framework (PICO, PICOC, SPIDER, CIMO)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Registrar protocolo (PROSPERO ou OSF) — opcional mas recomendado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Definir strings de busca, bases e critérios de inclusão/exclusão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Executar busca, exportar para gerenciador (ex.: Rayyan, Covidence)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Triagem por título/resumo (dois revisores cegos), depois texto completo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Extrair dados em formulário padronizado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+ 3 passos no material completo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Rayyan, Covidence, EPPI-Reviewer, EndNote, Zotero. Bases: Web of Science, Scopus, EBSCO.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Strings de busca pobres geram corpus enviesado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Sistemática (SLR)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Tranfield, D., Denyer, D. &amp; Smart, P. (2003). Towards a methodology for developing evidence-informed management knowledge by means of systematic review. British Journal of Management, 14(3), 207–222.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APLICADA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Crossan, M. M. &amp; Apaydin, M. (2010). A multi-dimensional framework of organizational innovation: A systematic review of the literature. Journal of Management Studies, 47(6), 1154–1191.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OPERACIONAL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Kraus, S., Breier, M. &amp; Dasí-Rodríguez, S. (2020). The art of crafting a systematic literature review in entrepreneurship research. International Entrepreneurship and Management Journal, 16(3), 1023–1042.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2 · Qualis A2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de Escopo (Scoping Review)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 PROTOCOLO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Revisão que mapeia a extensão, o alcance e a natureza de uma literatura, sem julgar a qualidade dos estudos. Foco em "o que existe" e "como tem sido estudado", não em "o que funciona".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Campos emergentes ou heterogêneos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identificar gaps antes de planejar uma SLR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mapear conceitos-chave, métodos e tipos de evidência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a pergunta é confirmatória/específica (use SLR)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se quer estimar tamanho de efeito (use meta-análise)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Identificar a pergunta de pesquisa (ampla)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Identificar estudos relevantes (busca abrangente)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Selecionar estudos (critérios definidos a posteriori, iterativos)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Mapear os dados (charting) — extração descritiva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Compilar, sumarizar e reportar resultados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(Opcional) Consulta com stakeholders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+ 1 passo no material completo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Rayyan, Covidence, planilhas para charting, NVivo, MAXQDA.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Apresentar como SLR quando é escopo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de Escopo (Scoping Review)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Arksey, H. &amp; O'Malley, L. (2005). Scoping studies: Towards a methodological framework. International Journal of Social Research Methodology, 8(1), 19–32.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2 · Qualis A2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REPORTE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Tricco, A. C. et al. (2018). PRISMA Extension for Scoping Reviews (PRISMA-ScR). Annals of Internal Medicine, 169(7), 467–473.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AVALIAÇÃO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Pham, M. T. et al. (2014). A scoping review of scoping reviews. Research Synthesis Methods, 5(4), 371–385.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2 · 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Integrativa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 PROTOCOLO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Revisão que integra estudos com diferentes desenhos metodológicos (empíricos qualitativos, quantitativos e teóricos) em uma síntese única. Mais flexível que a SLR clássica e popular em saúde, enfermagem e recentemente em management.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a literatura combina estudos qualis, quantis e teóricos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construir framework integrador a partir de evidência diversa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o tema é interdisciplinar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a literatura é predominantemente quantitativa homogênea (use meta-análise)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a pergunta é estritamente confirmatória (use SLR)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Formular o problema de pesquisa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Buscar a literatura (com critérios explícitos)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Avaliar dados (qualidade dos estudos incluídos — método compatível com cada desenho)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Analisar dados (codificação temática + síntese narrativa)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Apresentar resultados (síntese integradora)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Reportar com transparência metodológica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NVivo, MAXQDA, Atlas.ti, Mendeley, Excel para extração.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Confundir com SLR ou narrativa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Integrativa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DEFESA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Elsbach, K. D. &amp; van Knippenberg, D. (2020). Creating high-impact literature reviews: An argument for 'integrative reviews'. Journal of Management Studies, 57(6), 1277–1289.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OPERACIONAL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Cronin, M. A. &amp; George, E. (2023). The why and how of the integrative review. Organizational Research Methods, 26(1), 168–192.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CONTRAPONTO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Alvesson, M. &amp; Sandberg, J. (2020). The problematizing review: A counterpoint to Elsbach and Van Knippenberg's argument for integrative reviews. Journal of Management Studies, 57(6), 1290–1304.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Realista (Realist Review)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 PROTOCOLO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Revisão orientada à teoria, que busca explicar "o que funciona, para quem, em que circunstâncias e por quê" através da lógica Contexto–Mecanismo–Resultado (CMO). Útil para intervenções complexas.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Intervenções complexas (programas, políticas, mudanças organizacionais)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o efeito depende fortemente do contexto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informar tomada de decisão sobre o desenho de intervenções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perguntas de eficácia descontextualizada (use SLR/meta-análise)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mapeamento descritivo (use escopo)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Clarificar o escopo e desenvolver teoria inicial do programa (ITP)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Buscar evidência iterativamente (purposivo + sistemático)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Selecionar e avaliar estudos por relevância e rigor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Extrair e sintetizar configurações C–M–R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Refinar a teoria com base na evidência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Disseminar conclusões com implicações de design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NVivo, MAXQDA, planilhas para mapeamento C-M-R.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Aplicar a perguntas que não envolvem complexidade contextual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Realista (Realist Review)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Pawson, R., Greenhalgh, T., Harvey, G. &amp; Walshe, K. (2005). Realist review—a new method of systematic review designed for complex policy interventions. Journal of Health Services Research &amp; Policy, 10(suppl 1), 21–34.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REPORTE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Wong, G., Greenhalgh, T., Westhorp, G., Buckingham, J. &amp; Pawson, R. (2013). RAMESES publication standards: Realist syntheses. BMC Medicine, 11, 21.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APLICADA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Saridakis, G., Lai, Y. &amp; Cooper, C. L. (2017). Exploring the relationship between HRM and firm performance: A meta-analysis of longitudinal studies. Human Resource Management Review, 27(1), 87–96.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Rápida (Rapid Review)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 PROTOCOLO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Revisão que adapta o método sistemático para ser concluída em prazo reduzido (semanas em vez de meses), tipicamente abreviando alguns passos (busca menos exaustiva, único revisor, sem meta-análise). Ganhou tração na pandemia.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há urgência decisória (gestão pública, executiva)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subsidiar relatórios de fomento ou consultoria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Como pré-estudo de uma SLR completa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há tempo para SLR completa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publicação em journals top sem justificativa do trade-off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Definir pergunta restrita e prazo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Reduzir escopo de bases (1–2 bases principais)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Limitar janela temporal e idiomas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Triagem por um único revisor (com auditoria amostral)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Síntese narrativa simplificada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Reportar limitações com transparência (Cochrane Rapid Reviews Methods Group)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Rayyan, Covidence, Excel.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Apresentar como SLR completa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Revisão Rápida (Rapid Review)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COCHRANE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Garritty, C. et al. (2021). Cochrane Rapid Reviews Methods Group offers evidence-informed guidance to conduct rapid reviews. Journal of Clinical Epidemiology, 130, 13–22.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ATUALIZADA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Garritty, C. et al. (2024). Updated recommendations for the Cochrane rapid review methods guidance for rapid reviews of effectiveness. BMJ, 384, e076335.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VARIAÇÕES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Tricco, A. C. et al. (2015). A scoping review of rapid review methods. BMC Medicine, 13, 224.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Umbrella Review (Revisão de Revisões)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 PROTOCOLO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Revisão que sintetiza múltiplas revisões sistemáticas e meta-análises sobre um mesmo tópico. Útil quando o campo já acumulou muitas SLRs e precisa de uma síntese de mais alto nível.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existem várias SLRs/meta-análises sobre o tema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mapear convergências, divergências e lacunas entre revisões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subsidiar diretrizes ou guidelines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o campo ainda não acumulou SLRs suficientes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perguntas com poucos estudos primários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Definir pergunta abrangente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Buscar SLRs, meta-análises e outras revisões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Selecionar e avaliar a qualidade das revisões (AMSTAR-2, ROBIS)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Extrair conclusões e evidências de cada revisão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Sintetizar convergências, contradições e lacunas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Reportar conforme PRIOR (Gates et al., 2022)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Rayyan, AMSTAR-2 checklist, Excel.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Ignorar sobreposição de estudos primários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Umbrella Review (Revisão de Revisões)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Aromataris, E. et al. (2015). Summarizing systematic reviews: Methodological development, conduct and reporting of an umbrella review approach. International Journal of Evidence-Based Healthcare, 13(3), 132–140.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REPORTE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Sarkis-Onofre, R., Catalá-López, F., Aromataris, E. &amp; Lockwood, C. (2021). How to properly use the PRISMA Statement. Systematic Reviews, 10, 117.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Pollock, M. et al. (2019). Preferred Reporting Items for Overviews of Reviews (PRIOR): A protocol for development of a reporting guideline. Systematic Reviews, 8, 335.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III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029200" y="1828800"/>
            <a:ext cx="0" cy="320040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FAMÍLIA III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24688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Quantitativas e Computacionais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0" y="3657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literatura como dado. Bibliometria, meta-análise e topic modeling.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5212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8 técnicas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Bibliometria — Visão Geral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QUANTITATIVA/COMPUTACIONAL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Análise quantitativa da produção científica, usando metadados (autores, citações, palavras-chave) para revelar a estrutura intelectual, social e conceitual de um campo. Cresceu exponencialmente em management nos últimos 10 anos.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mapear estrutura de um campo (tradições, frentes, redes)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há volume grande de literatura (centenas/milhares de artigos)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subsidiar uma SLR (ex.: identificar autores e temas-chave antes da síntese)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responder "o que funciona" (use SLR/meta-análise)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o corpus é pequeno (&lt; 50 artigos – use métodos qualitativos)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Definir pergunta e protocolo de busca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Coletar metadados em base com cobertura adequada (WoS ou Scopus, idealmente ambas)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Limpar e harmonizar dados (autores, instituições, keywords)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Análise descritiva (produção por ano, autores, periódicos, países)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Análise relacional (cocitação, acoplamento, coautoria, coword)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Visualização e interpretação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+ 1 passo no material completo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VOSviewer, CiteSpace, Bibliometrix (R), Gephi, BibExcel, Biblioshiny.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Apresentar números sem interpretação teórica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Bibliometria — Visão Geral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078992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078992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OPERACIONAL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Donthu, N., Kumar, S., Mukherjee, D., Pandey, N. &amp; Lim, W. M. (2021). How to conduct a bibliometric analysis: An overview and guidelines. Journal of Business Research, 133, 285–296.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65960" y="2168225"/>
            <a:ext cx="9174175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34056"/>
            <a:ext cx="11277295" cy="1078992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1371600" cy="1078992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CANÔNICA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2898648"/>
            <a:ext cx="9174175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Zupic, I. &amp; Čater, T. (2015). Bibliometric methods in management and organization. Organizational Research Methods, 18(3), 429–472.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393521"/>
            <a:ext cx="9174175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77295" cy="1078992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371600" cy="1078992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3959352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BRASILEIRA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123944"/>
            <a:ext cx="9174175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Quevedo-Silva, F., Almeida Santos, E. B., Brandão, M. M. &amp; Vils, L. (2016). Estudo bibliométrico: Orientações sobre sua aplicação. ReMark — Revista Brasileira de Marketing, 15(2), 246–262.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4618817"/>
            <a:ext cx="9174175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184648"/>
            <a:ext cx="11277295" cy="1078992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5184648"/>
            <a:ext cx="1371600" cy="1078992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5184648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AVANÇADA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5349240"/>
            <a:ext cx="9174175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Mukherjee, D., Lim, W. M., Kumar, S. &amp; Donthu, N. (2022). Guidelines for advancing theory and practice through bibliometric research. Journal of Business Research, 148, 101–115.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65960" y="5844113"/>
            <a:ext cx="9174175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Análise de Citação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QUANTITATIVA/COMPUTACIONAL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Conta e analisa citações recebidas por artigos, autores ou periódicos. É a métrica bibliométrica mais simples e a base das outras análises relacionais.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Identificar obras seminais e autores-chave de um campo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Avaliar impacto científico (com cuidado e contextualização)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Etapa preliminar para cocitação ou acoplamento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Como única medida de qualidade (citações têm vieses)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campos jovens (não há tempo para acumular citações)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Coletar metadados com contagem de citações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Rankear unidades de análise (artigos, autores, journals)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Calcular indicadores (h-index, citações por ano)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Interpretar com cuidado contextual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WoS, Scopus, Google Scholar (com Publish or Perish), Bibliometrix.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Tratar contagem de citações como medida absoluta de qualidade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Análise de Citação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Garfield, E. (1979). Citation indexing: Its theory and application in science, technology, and humanities. Wiley.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Livro fundador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METODOLÓGICA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Tahamtan, I., Safipour Afshar, A. &amp; Ahamdzadeh, K. (2016). Factors affecting number of citations: A comprehensive review of the literature. Scientometrics, 107(3), 1195–1225.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APLICADA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Khan, M. A., Pattnaik, D., Ashraf, R., Ali, I., Kumar, S. &amp; Donthu, N. (2021). Value of special issues in the Journal of Business Research: A bibliometric analysis. Journal of Business Research, 125, 295–313.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Análise de Cocitação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QUANTITATIVA/COMPUTACIONAL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Mede a frequência com que pares de obras (ou autores, ou journals) são citados juntos por outros artigos. Revela a estrutura intelectual passada — as raízes teóricas que sustentam o campo.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Mapear tradições teóricas e "escolas de pensamento"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Identificar obras-pilares e suas conexões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Estudos histórico-conceituais de campos consolidados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mapear pesquisa em curso (use acoplamento bibliográfico)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Em campos muito jovens (poucas citações ainda)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Coletar artigos do campo (citing articles)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Extrair as referências citadas (cited references)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Construir matriz de cocitação (frequência de pares co-citados)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Aplicar normalização (similaridade — cosseno, Salton, association strength)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Clusterizar (algoritmo de modularidade no VOSviewer ou similar)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Interpretar clusters como tradições/escolas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+ 1 passo no material completo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VOSviewer, CiteSpace, Bibliometrix.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Confundir com acoplamento bibliográfico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Análise de Cocitação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078992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078992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Small, H. (1973). Co-citation in the scientific literature: A new measure of the relationship between two documents. Journal of the American Society for Information Science, 24(4), 265–269.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65960" y="2168225"/>
            <a:ext cx="9174175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Paper fundador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34056"/>
            <a:ext cx="11277295" cy="1078992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1371600" cy="1078992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APLICADA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2898648"/>
            <a:ext cx="9174175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Vogel, R. &amp; Güttel, W. H. (2013). The dynamic capabilities view in strategic management: A bibliometric review. International Journal of Management Reviews, 15(4), 426–446.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393521"/>
            <a:ext cx="9174175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11277295" cy="1078992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371600" cy="1078992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3959352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TOP JOURNAL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123944"/>
            <a:ext cx="9174175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Ramos-Rodríguez, A. R. &amp; Ruíz-Navarro, J. (2004). Changes in the intellectual structure of strategic management research: A bibliometric study of the SMJ, 1980–2000. Strategic Management Journal, 25(10), 981–1004.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4618817"/>
            <a:ext cx="9174175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4* · Qualis A1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184648"/>
            <a:ext cx="11277295" cy="1078992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5184648"/>
            <a:ext cx="1371600" cy="1078992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5184648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BRASILEIRA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5349240"/>
            <a:ext cx="9174175" cy="48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Serra, F. A. R., Ferreira, M. P., Guerrazzi, L. A. de C. &amp; Scaciotta, V. V. (2018). Doing bibliometric reviews for the Iberoamerican Journal of Strategic Management. Revista Ibero-Americana de Estratégia, 17(3), 1–16.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65960" y="5844113"/>
            <a:ext cx="9174175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Acoplamento Bibliográfico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QUANTITATIVA/COMPUTACIONAL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Mede a similaridade entre dois artigos pela quantidade de referências que ambos compartilham. Revela frentes de pesquisa atuais — quem está "falando da mesma coisa" agora.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Mapear frentes de pesquisa contemporâneas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Identificar agrupamentos temáticos atuais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Estudos sobre campos emergentes ou em transformação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mapear estrutura intelectual histórica (use cocitação)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se quer identificar obras seminais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Coletar artigos do campo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Extrair lista de referências de cada artigo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Calcular pares de artigos com referências em comum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Construir matriz de acoplamento e normalizar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Clusterizar para revelar frentes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Interpretar e nomear cada frente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VOSviewer, CiteSpace, Bibliometrix.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Confundir com cocitação (têm objetivos diferentes)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Acoplamento Bibliográfico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841248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841248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Kessler, M. M. (1963). Bibliographic coupling between scientific papers. American Documentation, 14(1), 10–25.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2011314"/>
            <a:ext cx="9174175" cy="1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Paper fundador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11277295" cy="841248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1371600" cy="841248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DISTINÇÃO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2606040"/>
            <a:ext cx="917417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Jarneving, B. (2007). Bibliographic coupling and its application to research-front and other core documents. Journal of Informetrics, 1(4), 287–307.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2944002"/>
            <a:ext cx="9174175" cy="1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74136"/>
            <a:ext cx="11277295" cy="841248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1371600" cy="841248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3374136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EMPÍRICA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3538728"/>
            <a:ext cx="917417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Boyack, K. W. &amp; Klavans, R. (2010). Co-citation analysis, bibliographic coupling, and direct citation. Journal of the American Society for Information Science and Technology, 61(12), 2389–2404.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65960" y="3876690"/>
            <a:ext cx="9174175" cy="1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306824"/>
            <a:ext cx="11277295" cy="841248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4306824"/>
            <a:ext cx="1371600" cy="841248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4306824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BRASILEIRA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4471416"/>
            <a:ext cx="917417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Arias, M. I., Serra, F. A. R., Guerrazzi, L. A. de C. &amp; Ferreira, M. P. (2019). Intellectual foundations and mainstream research of e-government in public administration. Management Research, 17(1), 89–115.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65960" y="4809378"/>
            <a:ext cx="9174175" cy="1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A2 · Emerald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5239512"/>
            <a:ext cx="11277295" cy="841248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5239512"/>
            <a:ext cx="1371600" cy="841248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57200" y="5239512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BRASILEIRA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65960" y="5404104"/>
            <a:ext cx="9174175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Paraíso de Campos Serra, B., Tomei, P. A., Serra, F. &amp; Guerrazzi, L. A. de C. (2022). What has been studied in cultural intelligence? Intellectual structure and current research. Management Research, 20(1), 50–73.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65960" y="5742066"/>
            <a:ext cx="9174175" cy="1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A2 · Emerald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Coautoria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QUANTITATIVA/COMPUTACIONAL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Analisa redes de colaboração entre autores, instituições ou países. Revela a estrutura social do campo.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Mapear comunidades científicas e suas conexões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Identificar autores centrais e brokers (intermediários)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Estudos sobre internacionalização de um campo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mapear estrutura conceitual ou intelectual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Coletar metadados de autoria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Construir rede (nós = autores, arestas = coautoria)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Calcular métricas de rede (grau, betweenness, closeness)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Identificar comunidades (algoritmo de Louvain)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Visualizar e interpretar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VOSviewer, Gephi, UCINet, Bibliometrix.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Inflar redes com autocitações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Coautoria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Newman, M. E. J. (2001). The structure of scientific collaboration networks. Proceedings of the National Academy of Sciences, 98(2), 404–409.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 journal científico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Acedo, F. J., Barroso, C., Casanueva, C. &amp; Galán, J. L. (2006). Co-authorship in management and organizational studies: An empirical and network analysis. Journal of Management Studies, 43(5), 957–983.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Coocorrência de Palavras (Coword)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QUANTITATIVA/COMPUTACIONAL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Analisa pares de palavras-chave que aparecem juntas em artigos para revelar a estrutura conceitual do campo — os temas e suas relações.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Mapear estrutura conceitual e tópicos do campo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Identificar temas emergentes e em declínio (com análise temporal)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Complementar cocitação ou acoplamento com nível conceitual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keywords são pobres ou inexistentes (use topic modeling)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Coletar artigos com keywords (author + indexer keywords)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Limpar e harmonizar (sinonímia, plural, capitalização)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Construir matriz de coocorrência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Clusterizar conceitualmente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Análise temporal (overlay) para tendências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Interpretar com leitura qualitativa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VOSviewer, CiteSpace, Bibliometrix.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Pular limpeza de keywords (resultados ruidosos)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Coocorrência de Palavras (Coword)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Callon, M., Courtial, J. P. &amp; Laville, F. (1991). Co-word analysis as a tool for describing the network of interactions between basic and technological research. Scientometrics, 22(1), 155–205.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Paper fundador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TEMPORAL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Cobo, M. J., López-Herrera, A. G., Herrera-Viedma, E. &amp; Herrera, F. (2011). An approach for detecting, quantifying, and visualizing the evolution of a research field. Journal of Informetrics, 5(1), 146–166.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Meta-análise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QUANTITATIVA/COMPUTACIONAL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Síntese estatística que combina resultados de múltiplos estudos primários quantitativos para estimar um tamanho de efeito agregado, com seu intervalo de confiança e teste de heterogeneidade. É o padrão-ouro da síntese de evidência quantitativa.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há múltiplos estudos quantitativos sobre a mesma relação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estimar tamanho de efeito médio de uma relação X→Y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testar moderadores e fontes de heterogeneidade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os estudos são metodologicamente incomparáveis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sínteses qualitativas (use meta-síntese ou síntese temática)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Definir pergunta e protocolo (idealmente registrar)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Conduzir SLR como base para o corpus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Extrair tamanhos de efeito e estatísticas necessárias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Calcular tamanhos de efeito padronizados (d, r, OR, RR)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Escolher modelo (efeitos fixos vs. aleatórios — geralmente aleatórios)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Combinar efeitos com pesos por inverso da variância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+ 4 passos no material completo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 (metafor, meta), CMA, Stata, RevMan, jamovi/JASP.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Garbage in, garbage out (corpus mal selecionado)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Meta-análise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ESTATÍSTICA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Borenstein, M., Hedges, L. V., Higgins, J. P. T. &amp; Rothstein, H. R. (2009). Introduction to meta-analysis. Wiley.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Livro canônico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Hunter, J. E. &amp; Schmidt, F. L. (2004). Methods of meta-analysis: Correcting error and bias in research findings. Sage.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Livro canônico em management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ESTADO DA ARTE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Combs, J. G., Crook, T. R. &amp; Rauch, A. (2019). Meta-analytic research in management: Contemporary approaches, unresolved controversies, and rising standards. Journal of Management Studies, 56(1), 1–18.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Topic Modeling (LDA) — ponte para revisão computacional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QUANTITATIVA/COMPUTACIONAL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Técnica de aprendizado de máquina não supervisionada que descobre tópicos latentes em grandes corpora textuais (abstracts, artigos completos). Latent Dirichlet Allocation (LDA) é a abordagem mais usada.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Corpora muito grandes (milhares de documentos)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keywords são insuficientes ou inexistentes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descobrir tópicos não previstos pelo pesquisador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Em corpora pequenos (&lt; 200 docs)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o objetivo é interpretação fina de poucos textos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Coletar corpus textual (abstracts ou full-texts)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Pré-processamento (tokenização, stopwords, lematização)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Definir número de tópicos K (perplexity, coherence)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Treinar modelo LDA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Inspecionar tópicos (top words por tópico)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Nomear tópicos com leitura qualitativa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+ 1 passo no material completo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 (topicmodels, stm), Python (gensim, sklearn), MALLET.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K mal escolhido gera tópicos sem sentido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Topic Modeling (LDA) — ponte para revisão computacional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Blei, D. M., Ng, A. Y. &amp; Jordan, M. I. (2003). Latent Dirichlet Allocation. Journal of Machine Learning Research, 3, 993–1022.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 ML, paper fundador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Hannigan, T. R. et al. (2019). Topic modeling in management research: Rendering new theory from textual data. Academy of Management Annals, 13(2), 586–632.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4*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TUTORIAL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Kobayashi, V. B., Mol, S. T., Berkers, H. A., Kismihók, G. &amp; Den Hartog, D. N. (2018). Text classification for organizational researchers: A tutorial. Organizational Research Methods, 21(3), 766–799.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IV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029200" y="1828800"/>
            <a:ext cx="0" cy="320040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FAMÍLIA IV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24688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Sínteses Qualitativas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0" y="3657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Interpretação além do somatório. Meta-etnografia e síntese temática.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5212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 abordagens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Meta-síntese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SÍNTESE QUALITATIVA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Termo guarda-chuva para sínteses qualitativas que vão além da soma dos estudos primários, gerando interpretação de mais alto nível. Distingue-se da meta-análise por NÃO ser quantitativa.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há corpo significativo de estudos qualitativos sobre o mesmo fenômeno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construir teoria substantiva a partir de pesquisas qualitativas dispersas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Em fenômenos complexos onde a vivência do sujeito importa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evidência majoritariamente quantitativa (use meta-análise)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Como mero somatório descritivo (precisa haver síntese interpretativa)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Formular pergunta e estabelecer protocolo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Buscar literatura qualitativa (com filtros adequados)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Avaliar qualidade (CASP qualitativo)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Extrair temas, conceitos e metáforas dos estudos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Sintetizar (translação recíproca, síntese de linha de argumento, refutação)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Construir interpretação de segundo ordem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+ 1 passo no material completo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NVivo, MAXQDA, Atlas.ti.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Confundir com revisão integrativa ou meta-etnografia (são variantes específicas)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Meta-síntese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Sandelowski, M. &amp; Barroso, J. (2007). Handbook for synthesizing qualitative research. Springer Publishing.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Livro canônico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Hoon, C. (2013). Meta-synthesis of qualitative case studies: An approach to theory building. Organizational Research Methods, 16(4), 522–556.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4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REFLEXÃO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Thorne, S., Jensen, L., Kearney, M. H., Noblit, G. &amp; Sandelowski, M. (2004). Qualitative metasynthesis: Reflections on methodological orientation and ideological agenda. Qualitative Health Research, 14(10), 1342–1365.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Meta-etnografia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SÍNTESE QUALITATIVA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Método específico de meta-síntese proposto por Noblit &amp; Hare (1988), que sintetiza estudos qualitativos por meio de tradução recíproca de conceitos entre estudos. É a abordagem mais teoricamente sofisticada.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Sínteses interpretativas de estudos etnográficos ou afins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gerar teoria substantiva nova a partir de quali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estudos abordam o mesmo fenômeno por ângulos próximos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corpus muito heterogêneo metodologicamente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o objetivo é descritivo (use síntese temática)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Iniciar (definir tema)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Decidir o que é relevante (critérios de seleção)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Ler os estudos repetidamente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Determinar como os estudos se relacionam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Traduzir os estudos uns nos outros (translação recíproca)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Sintetizar as traduções (síntese de linha de argumento ou refutação)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+ 1 passo no material completo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NVivo, MAXQDA.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Confundir com mera codificação temática agregada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Meta-etnografia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Noblit, G. W. &amp; Hare, R. D. (1988). Meta-ethnography: Synthesizing qualitative studies. Sage.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Livro fundador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EMERGE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France, E. F. et al. (2019). Improving reporting of meta-ethnography: The eMERGe reporting guidance. BMC Medical Research Methodology, 19, 25.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Britten, N., Campbell, R., Pope, C., Donovan, J., Morgan, M. &amp; Pill, R. (2002). Using meta-ethnography to synthesise qualitative research: A worked example. Journal of Health Services Research &amp; Policy, 7(4), 209–215.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Síntese Temática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SÍNTESE QUALITATIVA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Sintetiza estudos qualitativos por meio de codificação temática indutiva em três etapas: codificação livre, desenvolvimento de temas descritivos e geração de temas analíticos. Mais acessível que meta-etnografia.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Sínteses qualitativas quando se deseja método estruturado e replicável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os estudos primários têm formatos heterogêneos de relato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Em campos aplicados (gestão, saúde, educação)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se busca teoria substantiva nova (use meta-etnografia)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evidência quantitativa (use meta-análise)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Codificar linha por linha o material qualitativo dos estudos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Desenvolver temas descritivos (próximos aos dados)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Gerar temas analíticos (interpretação que vai além)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Reportar com transparência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NVivo, MAXQDA, Atlas.ti.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Ficar só no descritivo (sem geração analítica)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Síntese Temática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Thomas, J. &amp; Harden, A. (2008). Methods for the thematic synthesis of qualitative research in systematic reviews. BMC Medical Research Methodology, 8, 45.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ESTADO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Flemming, K. &amp; Noyes, J. (2021). Qualitative evidence synthesis: Where are we at? International Journal of Qualitative Methods, 20.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ADAPTAÇÃO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Cruzes, D. S. &amp; Dybå, T. (2011). Recommended steps for thematic synthesis in software engineering. International Symposium on Empirical Software Engineering and Measurement, 275–284.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Qualis A2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029200" y="1828800"/>
            <a:ext cx="0" cy="320040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FAMÍLIA 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24688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Frameworks de Administração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0" y="3657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TCCM, SPAR-4-SLR e ADO. Pensados para business e management.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5212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 frameworks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TCCM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FRAMEWORK DE ADMINISTRAÇÃO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Framework para conduzir e estruturar revisões em management que organiza a literatura em quatro dimensões: Theory, Context, Characteristics e Methodology. Útil para revisões temáticas em business/management.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Revisões temáticas em business, marketing e international business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se quer organizar a literatura em dimensões claras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identificar lacunas teóricas, contextuais, de variáveis e metodológicas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revisões em outras áreas (saúde, educação) onde frameworks específicos servem melhor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a pergunta exige modelo distinto (ex.: realista, escopo)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Definir o construto/tema central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Mapear estudos por T (teorias usadas)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Mapear por C (contextos: país, indústria, organização)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Mapear por C (características: variáveis, antecedentes, consequentes)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Mapear por M (metodologias: quanti, quali, mistos)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Identificar lacunas em cada dimensão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+ 1 passo no material completo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Excel, Mendeley/Zotero, NVivo opcional.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Apresentar como SLR sem aderir ao TCCM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TCCM Framework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Paul, J. &amp; Rosado-Serrano, A. (2019). Gradual internationalization vs born-global/international new venture models: A review and research agenda. International Marketing Review, 36(6), 830–858.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APLICADA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Mandler, T., Sezen, B., Chen, J. &amp; Özsomer, A. (2021). Performance consequences of marketing standardization/adaptation: A systematic literature review. Journal of Business Research, 125, 416–435.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HISTÓRICA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Kahiya, E. T. (2018). Five decades of research on export barriers: Review and future directions. International Business Review, 27(6), 1172–1188.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SPAR-4-SLR Protocol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FRAMEWORK DE ADMINISTRAÇÃO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Protocolo de procedimentos científicos para SLR proposto por Paul et al. (2021), específico para business e management. Organiza a SLR em três etapas: Assembling, Arranging e Assessing, cada uma com sub-procedimentos.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SLRs em business, marketing, management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Quando se quer aderência a um protocolo específico do campo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artigos voltados a journals de admin que pedem rigor metodológico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revisões fora de business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outros protocolos (PRISMA, JBI) já bastam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ASSEMBLING — Identification (domínio, fonte, tipo de fonte, cobertura)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ASSEMBLING — Acquisition (busca, palavras-chave, filtros, critérios de inclusão)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ARRANGING — Organization (codificação, classificação)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ARRANGING — Purification (revisão crítica do corpus, ajustes)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ASSESSING — Evaluation (análise de conteúdo, bibliométrica, etc.)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ASSESSING — Reporting (achados, agenda, limitações)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Mendeley/Zotero, Excel, Rayyan, VOSviewer (se combinar com bibliometria).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Apresentar como SPAR-4-SLR sem seguir os 6 sub-passos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SPAR-4-SLR Protocol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Paul, J., Lim, W. M., O'Cass, A., Hao, A. W. &amp; Bresciani, S. (2021). Scientific procedures and rationales for systematic literature reviews (SPAR-4-SLR). International Journal of Consumer Studies, 45(4), O1–O16.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2 · Qualis A2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COMBINADA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Lim, W. M., Yap, S. F. &amp; Makkar, M. (2021). Home sharing in marketing and tourism at a tipping point. Journal of Business Research, 125, 534–566.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ATUALIZAÇÃO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Kraus, S., Breier, M., Lim, W. M. et al. (2022). Literature reviews as independent studies: Guidelines for academic practice. Review of Managerial Science, 16, 2577–2595.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2 · Qualis A2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ADO Framework (Antecedents–Decisions–Outcomes)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600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FRAMEWORK DE ADMINISTRAÇÃO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DEFINIÇÃO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Framework para organizar revisões temáticas em management identificando o que vem antes do fenômeno (antecedentes), as decisões/processos centrais e o que resulta (outcomes). Excelente para construir modelos integradores.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754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Para construir modelos integradores a partir de revisão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Em revisões temáticas focadas em um construto central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Como complemento ao TCCM (TCCM-ADO)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QUANDO NÃO USAR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Quando o tema não envolve cadeia causal A→D→O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✗ Para mapeamento descritivo amplo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486400" cy="498348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8745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Definir o construto/decisão central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Mapear antecedentes (categorias e variáveis)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Mapear decisões/processos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Mapear outcomes (consequentes)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Construir modelo integrador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389120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Apontar gaps em cada dimensão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5276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Excel para mapeamento, software de modelagem (draw.io, Lucidchart).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5852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61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ARMADILHA-CHAVE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6053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⚠ Listar variáveis sem categorização teórica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ADO Framework (Antecedents–Decisions–Outcomes)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REFERÊNCIAS EXEMPLARES PARA LEITURA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FUNDADORA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673352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Paul, J. &amp; Benito, G. R. G. (2018). A review of research on outward foreign direct investment from emerging countries. Asia Pacific Business Review, 24(1), 90–115.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91522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2 · Qualis A2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APLICADA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236976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Lim, W. M., Yap, S. F. &amp; Makkar, M. (2021). Home sharing in marketing and tourism at a tipping point. Journal of Business Research, 125, 534–566.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955146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3 · Qualis A1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36008"/>
            <a:ext cx="11277295" cy="1417320"/>
          </a:xfrm>
          <a:prstGeom prst="rect">
            <a:avLst/>
          </a:prstGeom>
          <a:solidFill>
            <a:srgbClr val="242440"/>
          </a:solidFill>
          <a:ln w="635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solidFill>
            <a:srgbClr val="0F0F1E"/>
          </a:solidFill>
          <a:ln w="12700">
            <a:solidFill>
              <a:srgbClr val="C99B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36008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HR/ESTRATÉGIA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9174175" cy="70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Hassan, S. T., Sheikh, F. A. &amp; Alam, S. (2022). Mapping the role of HR analytics in driving sustainable performance using ADO framework. International Journal of Manpower, 43(6), 1255–1276.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518770"/>
            <a:ext cx="9174175" cy="34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ABS 2 · Qualis A2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20095" y="6446520"/>
            <a:ext cx="914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7743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1688775" y="6419088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Tabela Comparativa — visão rápida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 esta visão de uma página para decisões iniciais. O material completo traz as 23 abordagens com detalhes operacionais.</a:t>
            </a:r>
            <a:endParaRPr lang="en-US" sz="12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5254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0F1E"/>
                          </a:solidFill>
                          <a:latin typeface="Cinzel" pitchFamily="34" charset="0"/>
                          <a:ea typeface="Cinzel" pitchFamily="34" charset="-122"/>
                          <a:cs typeface="Cinzel" pitchFamily="34" charset="-120"/>
                        </a:rPr>
                        <a:t>Abordagem</a:t>
                      </a:r>
                      <a:endParaRPr lang="en-US" sz="1100" dirty="0">
                        <a:latin typeface="Cinzel" charset="0"/>
                        <a:ea typeface="Cinzel" charset="0"/>
                        <a:cs typeface="Cinze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0F1E"/>
                          </a:solidFill>
                          <a:latin typeface="Cinzel" pitchFamily="34" charset="0"/>
                          <a:ea typeface="Cinzel" pitchFamily="34" charset="-122"/>
                          <a:cs typeface="Cinzel" pitchFamily="34" charset="-120"/>
                        </a:rPr>
                        <a:t>Pergunta típica</a:t>
                      </a:r>
                      <a:endParaRPr lang="en-US" sz="1100" dirty="0">
                        <a:latin typeface="Cinzel" charset="0"/>
                        <a:ea typeface="Cinzel" charset="0"/>
                        <a:cs typeface="Cinze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0F1E"/>
                          </a:solidFill>
                          <a:latin typeface="Cinzel" pitchFamily="34" charset="0"/>
                          <a:ea typeface="Cinzel" pitchFamily="34" charset="-122"/>
                          <a:cs typeface="Cinzel" pitchFamily="34" charset="-120"/>
                        </a:rPr>
                        <a:t>Tipo de dado</a:t>
                      </a:r>
                      <a:endParaRPr lang="en-US" sz="1100" dirty="0">
                        <a:latin typeface="Cinzel" charset="0"/>
                        <a:ea typeface="Cinzel" charset="0"/>
                        <a:cs typeface="Cinze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0F1E"/>
                          </a:solidFill>
                          <a:latin typeface="Cinzel" pitchFamily="34" charset="0"/>
                          <a:ea typeface="Cinzel" pitchFamily="34" charset="-122"/>
                          <a:cs typeface="Cinzel" pitchFamily="34" charset="-120"/>
                        </a:rPr>
                        <a:t>Esforço</a:t>
                      </a:r>
                      <a:endParaRPr lang="en-US" sz="1100" dirty="0">
                        <a:latin typeface="Cinzel" charset="0"/>
                        <a:ea typeface="Cinzel" charset="0"/>
                        <a:cs typeface="Cinze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Narrativa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Argumento livre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Texto qualitativo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Baixo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Estado da arte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Onde está a fronteira?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Texto qualitativo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Médio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Ensaio teórico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Que teoria nova?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Texto qualitativo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Médio-alto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Sistemática (SLR)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X afeta Y?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Empírico (quali/quanti)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Escopo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 que se sabe sobre X?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Mapeamento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Médio-alto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Integrativa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Integrar quali + quanti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Misto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Realista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Funciona p/ quem?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Misto + mecanismos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Bibliometria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Estrutura do campo?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Metadados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Médio-alto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Meta-análise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Tamanho de efeito?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Estatísticas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Muito 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Topic Modeling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Tópicos latentes?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Texto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Síntese Temática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Temas analíticos?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Estudos quali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Médio-alto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Meta-etnografia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Teoria substantiva?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Estudos quali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Muito 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TCCM / SPAR / ADO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Revisão em admin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Misto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F0E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Médio-alto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Quatro Bibliometrias — quando usar cada uma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486400" cy="242316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◊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COCITAÇÃO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Quais as raízes intelectuais?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4937760" cy="0"/>
          </a:xfrm>
          <a:prstGeom prst="line">
            <a:avLst/>
          </a:prstGeom>
          <a:noFill/>
          <a:ln w="9525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Estrutura intelectual passada — pares de obras citadas juntas. Revela as escolas de pensamento.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5486400" cy="242316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922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◈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26948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ACOPLAMENTO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948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Quais as frentes atuais?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2423160"/>
            <a:ext cx="4937760" cy="0"/>
          </a:xfrm>
          <a:prstGeom prst="line">
            <a:avLst/>
          </a:prstGeom>
          <a:noFill/>
          <a:ln w="9525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583680" y="25146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Frentes contemporâneas — artigos que compartilham referências. Revela os agrupamentos do agora.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486400" cy="242316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✦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COAUTORIA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572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Quem colabora com quem?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4937760" cy="0"/>
          </a:xfrm>
          <a:prstGeom prst="line">
            <a:avLst/>
          </a:prstGeom>
          <a:noFill/>
          <a:ln w="9525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1520" y="51206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Estrutura social — redes de pesquisadores, instituições, países. Identifica hubs e brokers.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931920"/>
            <a:ext cx="5486400" cy="2423160"/>
          </a:xfrm>
          <a:prstGeom prst="rect">
            <a:avLst/>
          </a:prstGeom>
          <a:solidFill>
            <a:srgbClr val="242440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92240" y="4069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✧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7269480" y="4160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COWORD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69480" y="4572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Que temas dominam?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5029200"/>
            <a:ext cx="4937760" cy="0"/>
          </a:xfrm>
          <a:prstGeom prst="line">
            <a:avLst/>
          </a:prstGeom>
          <a:noFill/>
          <a:ln w="9525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83680" y="51206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Estrutura conceitual — palavras-chave que aparecem juntas. Mostra tópicos e tendências.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Combinações Frequentes em Journals Top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9B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Teses e papers raramente usam uma abordagem isolada. Estas são as combinações mais frequentes em journals top de admin nos últimos anos: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Bibliometria + SLR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Bibliometria mapeia o campo (corpus grande); SLR aprofunda no sub-tema mais relevante.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SLR + Meta-análise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23317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SLR seleciona estudos; meta-análise estima o tamanho de efeito agregado.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Cocitação + Acoplamento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7490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Cocitação revela as raízes; acoplamento mostra as frentes. Diagnóstico completo do campo.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42900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0936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TCCM + SPAR-4-SLR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37490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SPAR-4-SLR organiza o protocolo; TCCM organiza a apresentação dos achados.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800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Topic Modeling + Bibliometria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1663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LDA descobre tópicos latentes; bibliometria contextualiza com autores e citações.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84632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30936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1E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4800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0E1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Síntese Temática + ADO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51663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Síntese temática extrai padrões; ADO organiza em modelo Antecedentes–Decisões–Outcomes.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A8A39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MTPQI · Família das Revisões de Literatura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5161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4A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◊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"A revisão de literatura não é tarefa secundária 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é frequentemente o que diferencia uma submissão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5F0E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aceita de uma rejeitada na desk-review."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0" y="4206240"/>
            <a:ext cx="210312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D4AF3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DCC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Material completo (PDF / DOCX) · Widget interativo de decisão · Discussão em sala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C99B3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Prof. Leonardo Vils · MTPQI · UNINOVE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8837</Words>
  <Application>Microsoft Office PowerPoint</Application>
  <PresentationFormat>Widescreen</PresentationFormat>
  <Paragraphs>1314</Paragraphs>
  <Slides>62</Slides>
  <Notes>62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62</vt:i4>
      </vt:variant>
    </vt:vector>
  </HeadingPairs>
  <TitlesOfParts>
    <vt:vector size="66" baseType="lpstr">
      <vt:lpstr>Arial</vt:lpstr>
      <vt:lpstr>Cinzel</vt:lpstr>
      <vt:lpstr>Garamond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Família das Revisões de Literatura — MTPQI</dc:title>
  <dc:subject>PptxGenJS Presentation</dc:subject>
  <dc:creator>Leonardo Vils</dc:creator>
  <cp:lastModifiedBy>Leonardo Vils</cp:lastModifiedBy>
  <cp:revision>1</cp:revision>
  <dcterms:created xsi:type="dcterms:W3CDTF">2026-05-07T19:01:57Z</dcterms:created>
  <dcterms:modified xsi:type="dcterms:W3CDTF">2026-05-07T19:06:51Z</dcterms:modified>
</cp:coreProperties>
</file>