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6914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◊◊◊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spc="12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 FAMÍLIA DAS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2468880"/>
            <a:ext cx="112772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00" b="1" spc="600" kern="0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REVISÕES DE LITERATURA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5029200" y="3931920"/>
            <a:ext cx="210312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35040" y="3904488"/>
            <a:ext cx="73152" cy="73152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11480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Quando e como usar cada uma — guia operacional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548640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4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Métodos e Técnicas de Pesquisa Quantitativa 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585216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Programa de Pós-Graduação em Administração · UNINOVE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617220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Prof. Dr. Leonardo Vils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O Mapa que faltava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46304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Existem mais de 20 tipos de revisão de literatura. A maioria dos mestrandos confunde os termos, escolhe a abordagem errada — ou apresenta como sistemática uma revisão que, na verdade, é narrativa.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Este material reúne 19 abordagens em formato operacional: o que é, quando usar, quando NÃO usar, passo a passo, software, armadilhas e exemplos.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0" y="1463040"/>
            <a:ext cx="5303520" cy="411480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691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AO FINAL, VOCÊ DEVE SABER: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2402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Qual abordagem combina com minha pergunta de pesquisa?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75120" y="32461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Como executá-la com rigor metodológico?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675120" y="42519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3. Como evitar os erros que levam à rejeição em revisão por pares?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820095" y="6446520"/>
            <a:ext cx="914400" cy="0"/>
          </a:xfrm>
          <a:prstGeom prst="line">
            <a:avLst/>
          </a:prstGeom>
          <a:noFill/>
          <a:ln w="12700">
            <a:solidFill>
              <a:srgbClr val="D4AF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74375" y="6419088"/>
            <a:ext cx="54864" cy="54864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88775" y="6419088"/>
            <a:ext cx="54864" cy="54864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As Cinco Famílias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28" y="1463040"/>
            <a:ext cx="2194560" cy="4389120"/>
          </a:xfrm>
          <a:prstGeom prst="rect">
            <a:avLst/>
          </a:prstGeom>
          <a:solidFill>
            <a:srgbClr val="242440"/>
          </a:solidFill>
          <a:ln w="19050">
            <a:solidFill>
              <a:srgbClr val="C99B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35128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I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26568" y="3017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TRADICIONAIS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66648" y="3520440"/>
            <a:ext cx="731520" cy="0"/>
          </a:xfrm>
          <a:prstGeom prst="line">
            <a:avLst/>
          </a:prstGeom>
          <a:noFill/>
          <a:ln w="12700">
            <a:solidFill>
              <a:srgbClr val="C99B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8008" y="37490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Argumento e ensaio. Sem protocolo formal.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6568" y="5303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 abordagens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66848" y="1463040"/>
            <a:ext cx="2194560" cy="4389120"/>
          </a:xfrm>
          <a:prstGeom prst="rect">
            <a:avLst/>
          </a:prstGeom>
          <a:solidFill>
            <a:srgbClr val="242440"/>
          </a:solidFill>
          <a:ln w="19050">
            <a:solidFill>
              <a:srgbClr val="E8B86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66848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E8B86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II</a:t>
            </a:r>
            <a:endParaRPr lang="en-US" sz="6400" dirty="0"/>
          </a:p>
        </p:txBody>
      </p:sp>
      <p:sp>
        <p:nvSpPr>
          <p:cNvPr id="12" name="Text 10"/>
          <p:cNvSpPr/>
          <p:nvPr/>
        </p:nvSpPr>
        <p:spPr>
          <a:xfrm>
            <a:off x="2758288" y="3017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COM PROTOCOLO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98368" y="3520440"/>
            <a:ext cx="731520" cy="0"/>
          </a:xfrm>
          <a:prstGeom prst="line">
            <a:avLst/>
          </a:prstGeom>
          <a:noFill/>
          <a:ln w="12700">
            <a:solidFill>
              <a:srgbClr val="E8B8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49728" y="37490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Sistemáticas, replicáveis, transparentes.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58288" y="5303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8B86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 abordagens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98568" y="1463040"/>
            <a:ext cx="2194560" cy="4389120"/>
          </a:xfrm>
          <a:prstGeom prst="rect">
            <a:avLst/>
          </a:prstGeom>
          <a:solidFill>
            <a:srgbClr val="242440"/>
          </a:solidFill>
          <a:ln w="1905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98568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III</a:t>
            </a:r>
            <a:endParaRPr lang="en-US" sz="6400" dirty="0"/>
          </a:p>
        </p:txBody>
      </p:sp>
      <p:sp>
        <p:nvSpPr>
          <p:cNvPr id="18" name="Text 16"/>
          <p:cNvSpPr/>
          <p:nvPr/>
        </p:nvSpPr>
        <p:spPr>
          <a:xfrm>
            <a:off x="5090008" y="3017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QUANTITATIVAS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30088" y="3520440"/>
            <a:ext cx="731520" cy="0"/>
          </a:xfrm>
          <a:prstGeom prst="line">
            <a:avLst/>
          </a:prstGeom>
          <a:noFill/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81448" y="37490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literatura como dado. Bibliometria, meta-análise, LDA.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90008" y="5303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 técnicas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30288" y="1463040"/>
            <a:ext cx="2194560" cy="4389120"/>
          </a:xfrm>
          <a:prstGeom prst="rect">
            <a:avLst/>
          </a:prstGeom>
          <a:solidFill>
            <a:srgbClr val="242440"/>
          </a:solidFill>
          <a:ln w="19050">
            <a:solidFill>
              <a:srgbClr val="E8B86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30288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E8B86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IV</a:t>
            </a:r>
            <a:endParaRPr lang="en-US" sz="6400" dirty="0"/>
          </a:p>
        </p:txBody>
      </p:sp>
      <p:sp>
        <p:nvSpPr>
          <p:cNvPr id="24" name="Text 22"/>
          <p:cNvSpPr/>
          <p:nvPr/>
        </p:nvSpPr>
        <p:spPr>
          <a:xfrm>
            <a:off x="7421728" y="3017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SÍNTESES QUALI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61808" y="3520440"/>
            <a:ext cx="731520" cy="0"/>
          </a:xfrm>
          <a:prstGeom prst="line">
            <a:avLst/>
          </a:prstGeom>
          <a:noFill/>
          <a:ln w="12700">
            <a:solidFill>
              <a:srgbClr val="E8B86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13168" y="37490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Interpretação além do somatório.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421728" y="5303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8B86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 abordagens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662008" y="1463040"/>
            <a:ext cx="2194560" cy="4389120"/>
          </a:xfrm>
          <a:prstGeom prst="rect">
            <a:avLst/>
          </a:prstGeom>
          <a:solidFill>
            <a:srgbClr val="242440"/>
          </a:solidFill>
          <a:ln w="19050">
            <a:solidFill>
              <a:srgbClr val="C99B3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62008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V</a:t>
            </a:r>
            <a:endParaRPr lang="en-US" sz="6400" dirty="0"/>
          </a:p>
        </p:txBody>
      </p:sp>
      <p:sp>
        <p:nvSpPr>
          <p:cNvPr id="30" name="Text 28"/>
          <p:cNvSpPr/>
          <p:nvPr/>
        </p:nvSpPr>
        <p:spPr>
          <a:xfrm>
            <a:off x="9753448" y="3017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FRAMEWORKS ADMIN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393528" y="3520440"/>
            <a:ext cx="731520" cy="0"/>
          </a:xfrm>
          <a:prstGeom prst="line">
            <a:avLst/>
          </a:prstGeom>
          <a:noFill/>
          <a:ln w="12700">
            <a:solidFill>
              <a:srgbClr val="C99B3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844888" y="37490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TCCM, SPAR-4-SLR, ADO. Específicos para business.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753448" y="5303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 frameworks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0820095" y="6446520"/>
            <a:ext cx="914400" cy="0"/>
          </a:xfrm>
          <a:prstGeom prst="line">
            <a:avLst/>
          </a:prstGeom>
          <a:noFill/>
          <a:ln w="12700">
            <a:solidFill>
              <a:srgbClr val="D4AF3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774375" y="6419088"/>
            <a:ext cx="54864" cy="54864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688775" y="6419088"/>
            <a:ext cx="54864" cy="54864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Qual escolher? — árvore de decisão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Pergunte-se, em ordem: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◆ Pergunta confirmatória sobre efeito de X em Y?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21031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→ Sistemática (SLR) + Meta-análise se houver evidência quantitativa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8346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◆ Pergunta exploratória ampla — "o que se sabe sobre X?"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32461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→ Revisão de Escopo (Scoping Review)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9776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◆ Por que e em que contexto uma intervenção funciona?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43891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→ Revisão Realista (lógica C–M–O)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51206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◆ Integrar evidência de naturezas distintas?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5321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→ Revisão Integrativa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16916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◆ Mapear estrutura intelectual/social/conceitual de campo grande?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37960" y="21031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→ Bibliometria (cocitação + acoplamento + coword + coautoria)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8346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◆ Sintetizar muitos estudos qualitativos?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37960" y="32461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→ Síntese Temática ou Meta-etnografia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39776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◆ Já existem várias SLRs sobre o tema?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37960" y="43891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→ Umbrella Review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09360" y="51206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◆ Revisão em business/management com framework do campo?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55321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→ TCCM, SPAR-4-SLR ou ADO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080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Combinações são bem-vindas: bibliometria + SLR é cada vez mais comum em journals top.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Sete Princípios Transversais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Independente da abordagem escolhida, estes elevam a qualidade e reduzem rejeição em revisão por pares.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640080" cy="64008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3444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Pergunta de pesquisa clara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21031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PICO, PICOC, SPIDER, CIMO, TCCM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640080" cy="64008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697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34440" y="2697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Protocolo explícito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30632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Reproducibilidade é inegociável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640080" cy="64008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657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34440" y="3657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Bases adequadas e justificadas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34440" y="4023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WoS + Scopus se complementam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617720"/>
            <a:ext cx="640080" cy="64008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617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234440" y="4617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Strings de busca testadas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4983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Garbage in, garbage out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309360" y="1737360"/>
            <a:ext cx="640080" cy="64008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08660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Dois revisores na triagem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086600" y="21031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Cego, com kappa de Cohen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309360" y="2697480"/>
            <a:ext cx="640080" cy="64008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0" y="2697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086600" y="2697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Avaliação de qualidade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086600" y="30632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CASP, MMAT, ROBIS, Newcastle-Ottawa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3657600"/>
            <a:ext cx="640080" cy="64008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3657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7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7086600" y="3657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Reporte conforme guideline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86600" y="4023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PRISMA, eMERGe, RAMESES, MARS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0820095" y="6446520"/>
            <a:ext cx="914400" cy="0"/>
          </a:xfrm>
          <a:prstGeom prst="line">
            <a:avLst/>
          </a:prstGeom>
          <a:noFill/>
          <a:ln w="12700">
            <a:solidFill>
              <a:srgbClr val="D4AF3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774375" y="6419088"/>
            <a:ext cx="54864" cy="54864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688775" y="6419088"/>
            <a:ext cx="54864" cy="54864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0" b="1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I</a:t>
            </a:r>
            <a:endParaRPr lang="en-US" sz="28000" dirty="0"/>
          </a:p>
        </p:txBody>
      </p:sp>
      <p:sp>
        <p:nvSpPr>
          <p:cNvPr id="3" name="Shape 1"/>
          <p:cNvSpPr/>
          <p:nvPr/>
        </p:nvSpPr>
        <p:spPr>
          <a:xfrm>
            <a:off x="5029200" y="1828800"/>
            <a:ext cx="0" cy="320040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0" y="20116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FAMÍLIA 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0" y="246888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spc="400" kern="0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Revisões Tradicionais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0" y="3657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Argumento e ensaio. Sem protocolo formal — mas com valor argumentativo e didático insubstituível.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0" y="5212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 abordagens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Revisão Narrativa (tradicional)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TRADICIONAL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Síntese da literatura conduzida com critérios pessoais do autor, sem protocolo explícito de busca, seleção ou avaliação de qualidade. É a forma mais antiga e mais publicada de revisão.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Capítulos introdutórios de teses e dissertações (contextualização)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Apresentar um panorama abrangente de um campo amplo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Conectar ideias de áreas distintas em ensaios reflexivos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Quando se busca evidência cumulativa (use sistemática)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Quando se quer mapear a extensão de um campo (use escopo ou bibliometria)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Definir o tema e os contornos do argumento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Levantar literatura de referência (sem critério replicável obrigatório)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Organizar por temas, períodos ou correntes teóricas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Construir argumento crítico-reflexivo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46520" y="388620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Apontar lacunas e direções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Word, gerenciador de referências (Mendeley, Zotero, EndNote).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Viés de confirmação (citar só o que reforça a tese)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Revisão Crítica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TRADICIONAL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Avalia criticamente a qualidade conceitual e metodológica da literatura existente, posicionando-se de forma argumentativa em relação ao corpus. Não busca exaustividade, mas sim leitura analítica em profundidade.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Para questionar pressupostos consolidados em um campo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Quando o objetivo é desestabilizar um paradigma dominante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Em artigos teóricos que propõem novas lentes interpretativas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Quando o objetivo é descritivo ou cumulativo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Para sínteses quantitativas (use meta-análise)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Definir o construto/teoria a ser examinado criticamente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Mapear obras representativas das principais correntes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Identificar contradições, gaps lógicos ou empíricos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Construir crítica fundamentada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46520" y="388620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Propor reposicionamento conceitual ou agenda de pesquisa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Mendeley, Zotero, NVivo (codificação temática opcional).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Crítica sem proposição construtiva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Estado da Arte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TRADICIONAL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Revisão que descreve o que se sabe e o que se faz hoje em um campo, com foco nas contribuições mais recentes e nas tendências em curso. Pode ser narrativa ou semi-sistemática.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Posicionar leitor sobre fronteira atual de um tema emergente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Capítulos introdutórios de teses sobre temas com produção recente intensa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Relatórios técnicos para órgãos de fomento e empresas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Para sínteses cumulativas de evidência (use sistemática/meta-análise)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Para mapear estrutura intelectual histórica (use cocitação)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Delimitar o tema e a janela temporal recente (geralmente 5–10 anos)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Levantar literatura por busca em bases e em journals-chave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Organizar por sub-temas, métodos ou correntes recentes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Identificar tendências e direções emergentes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46520" y="388620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Apontar agenda futura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Bases de dados (Web of Science, Scopus), gerenciador de referências.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Excesso de descritividade sem síntese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Ensaio Teórico-Conceitual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TRADICIONAL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Constrói um argumento teórico original a partir do diálogo com a literatura, podendo propor um novo construto, modelo conceitual ou framework. A revisão serve à construção teórica, não é fim em si.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Para propor um novo construto ou framework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Para conectar teorias de campos distintos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Para reposicionar um fenômeno sob nova lente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Para descrever uma área (use estado da arte)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Para sintetizar evidência empírica (use sistemática/meta-análise)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Identificar puzzle teórico ou inconsistência na literatura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Selecionar lentes teóricas relevantes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Articular o argumento com base no diálogo crítico com a literatura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Propor proposições teóricas e/ou framework conceitual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46520" y="388620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Discutir implicações e agenda empírica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Word, Mendeley/Zotero. Ferramentas de modelagem (Lucidchart, draw.io) para frameworks.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Confundir ensaio com revisão narrativa simples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0" b="1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II</a:t>
            </a:r>
            <a:endParaRPr lang="en-US" sz="28000" dirty="0"/>
          </a:p>
        </p:txBody>
      </p:sp>
      <p:sp>
        <p:nvSpPr>
          <p:cNvPr id="3" name="Shape 1"/>
          <p:cNvSpPr/>
          <p:nvPr/>
        </p:nvSpPr>
        <p:spPr>
          <a:xfrm>
            <a:off x="5029200" y="1828800"/>
            <a:ext cx="0" cy="320040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0" y="20116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FAMÍLIA II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0" y="246888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spc="400" kern="0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Revisões com Protocolo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0" y="3657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Sistemáticas, replicáveis, transparentes. Padrão do evidence-based management.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0" y="5212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6 abordagens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Revisão Sistemática (SLR)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COM PROTOCOLO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Revisão que segue protocolo explícito, transparente e replicável para responder uma pergunta de pesquisa específica, minimizando viés. Em management, popularizada por Tranfield et al. (2003).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Pergunta confirmatória bem delimitada (ex.: efeito de X sobre Y)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Quando há corpo de evidência suficiente para sintetizar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Quando se busca subsidiar decisão (evidence-based management)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Para mapeamento amplo de campo emergente (use escopo)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Quando a literatura é heterogênea demais para síntese (considere integrativa)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Formular pergunta com framework (PICO, PICOC, SPIDER, CIMO)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Registrar protocolo (PROSPERO ou OSF) — opcional mas recomendado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Definir strings de busca, bases e critérios de inclusão/exclusão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Executar busca, exportar para gerenciador (ex.: Rayyan, Covidence)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46520" y="388620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Triagem por título/resumo (dois revisores cegos), depois texto completo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46520" y="43891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0" y="4343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Extrair dados em formulário padronizado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858000" y="4846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+ 3 passos no material completo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Rayyan, Covidence, EPPI-Reviewer, EndNote, Zotero. Bases: Web of Science, Scopus, EBSCO.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Strings de busca pobres geram corpus enviesado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Revisão de Escopo (Scoping Review)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COM PROTOCOLO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Revisão que mapeia a extensão, o alcance e a natureza de uma literatura, sem julgar a qualidade dos estudos. Foco em "o que existe" e "como tem sido estudado", não em "o que funciona".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Campos emergentes ou heterogêneos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Para identificar gaps antes de planejar uma SLR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Para mapear conceitos-chave, métodos e tipos de evidência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Quando a pergunta é confirmatória/específica (use SLR)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Quando se quer estimar tamanho de efeito (use meta-análise)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Identificar a pergunta de pesquisa (ampla)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Identificar estudos relevantes (busca abrangente)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Selecionar estudos (critérios definidos a posteriori, iterativos)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Mapear os dados (charting) — extração descritiva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46520" y="388620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Compilar, sumarizar e reportar resultados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46520" y="43891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0" y="4343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(Opcional) Consulta com stakeholders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858000" y="4846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+ 1 passo no material completo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Rayyan, Covidence, planilhas para charting, NVivo, MAXQDA.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Apresentar como SLR quando é escopo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Revisão Integrativa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COM PROTOCOLO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Revisão que integra estudos com diferentes desenhos metodológicos (empíricos qualitativos, quantitativos e teóricos) em uma síntese única. Mais flexível que a SLR clássica e popular em saúde, enfermagem e recentemente em management.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Quando a literatura combina estudos qualis, quantis e teóricos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Para construir framework integrador a partir de evidência diversa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Quando o tema é interdisciplinar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Quando a literatura é predominantemente quantitativa homogênea (use meta-análise)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Quando a pergunta é estritamente confirmatória (use SLR)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Formular o problema de pesquisa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Buscar a literatura (com critérios explícitos)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Avaliar dados (qualidade dos estudos incluídos — método compatível com cada desenho)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Analisar dados (codificação temática + síntese narrativa)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46520" y="388620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Apresentar resultados (síntese integradora)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46520" y="43891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0" y="4343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Reportar com transparência metodológica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NVivo, MAXQDA, Atlas.ti, Mendeley, Excel para extração.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Confundir com SLR ou narrativa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Revisão Realista (Realist Review)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COM PROTOCOLO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Revisão orientada à teoria, que busca explicar "o que funciona, para quem, em que circunstâncias e por quê" através da lógica Contexto–Mecanismo–Resultado (CMO). Útil para intervenções complexas.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Intervenções complexas (programas, políticas, mudanças organizacionais)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Quando o efeito depende fortemente do contexto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Para informar tomada de decisão sobre o desenho de intervenções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Para perguntas de eficácia descontextualizada (use SLR/meta-análise)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Para mapeamento descritivo (use escopo)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Clarificar o escopo e desenvolver teoria inicial do programa (ITP)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Buscar evidência iterativamente (purposivo + sistemático)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Selecionar e avaliar estudos por relevância e rigor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Extrair e sintetizar configurações C–M–R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46520" y="388620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Refinar a teoria com base na evidência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46520" y="43891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0" y="4343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Disseminar conclusões com implicações de design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NVivo, MAXQDA, planilhas para mapeamento C-M-R.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Aplicar a perguntas que não envolvem complexidade contextual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Revisão Rápida (Rapid Review)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COM PROTOCOLO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Revisão que adapta o método sistemático para ser concluída em prazo reduzido (semanas em vez de meses), tipicamente abreviando alguns passos (busca menos exaustiva, único revisor, sem meta-análise). Ganhou tração na pandemia.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Quando há urgência decisória (gestão pública, executiva)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Para subsidiar relatórios de fomento ou consultoria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Como pré-estudo de uma SLR completa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Quando há tempo para SLR completa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Para publicação em journals top sem justificativa do trade-off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Definir pergunta restrita e prazo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Reduzir escopo de bases (1–2 bases principais)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Limitar janela temporal e idiomas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Triagem por um único revisor (com auditoria amostral)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46520" y="388620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Síntese narrativa simplificada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46520" y="43891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0" y="4343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Reportar limitações com transparência (Cochrane Rapid Reviews Methods Group)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Rayyan, Covidence, Excel.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Apresentar como SLR completa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Umbrella Review (Revisão de Revisões)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COM PROTOCOLO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Revisão que sintetiza múltiplas revisões sistemáticas e meta-análises sobre um mesmo tópico. Útil quando o campo já acumulou muitas SLRs e precisa de uma síntese de mais alto nível.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Quando existem várias SLRs/meta-análises sobre o tema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Para mapear convergências, divergências e lacunas entre revisões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Para subsidiar diretrizes ou guidelines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Quando o campo ainda não acumulou SLRs suficientes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Para perguntas com poucos estudos primários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Definir pergunta abrangente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Buscar SLRs, meta-análises e outras revisões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Selecionar e avaliar a qualidade das revisões (AMSTAR-2, ROBIS)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Extrair conclusões e evidências de cada revisão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46520" y="388620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Sintetizar convergências, contradições e lacunas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46520" y="43891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0" y="4343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Reportar conforme PRIOR (Gates et al., 2022)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Rayyan, AMSTAR-2 checklist, Excel.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Ignorar sobreposição de estudos primários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0" b="1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III</a:t>
            </a:r>
            <a:endParaRPr lang="en-US" sz="28000" dirty="0"/>
          </a:p>
        </p:txBody>
      </p:sp>
      <p:sp>
        <p:nvSpPr>
          <p:cNvPr id="3" name="Shape 1"/>
          <p:cNvSpPr/>
          <p:nvPr/>
        </p:nvSpPr>
        <p:spPr>
          <a:xfrm>
            <a:off x="5029200" y="1828800"/>
            <a:ext cx="0" cy="320040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0" y="20116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FAMÍLIA III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0" y="246888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spc="400" kern="0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Quantitativas e Computacionais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0" y="3657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literatura como dado. Bibliometria, meta-análise e topic modeling.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0" y="5212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8 técnicas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Bibliometria — Visão Geral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QUANTITATIVA/COMPUTACIONAL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Análise quantitativa da produção científica, usando metadados (autores, citações, palavras-chave) para revelar a estrutura intelectual, social e conceitual de um campo. Cresceu exponencialmente em management nos últimos 10 anos.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Para mapear estrutura de um campo (tradições, frentes, redes)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Quando há volume grande de literatura (centenas/milhares de artigos)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Para subsidiar uma SLR (ex.: identificar autores e temas-chave antes da síntese)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Para responder "o que funciona" (use SLR/meta-análise)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Quando o corpus é pequeno (&lt; 50 artigos – use métodos qualitativos)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Definir pergunta e protocolo de busca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Coletar metadados em base com cobertura adequada (WoS ou Scopus, idealmente ambas)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Limpar e harmonizar dados (autores, instituições, keywords)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Análise descritiva (produção por ano, autores, periódicos, países)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46520" y="388620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Análise relacional (cocitação, acoplamento, coautoria, coword)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46520" y="43891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0" y="4343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Visualização e interpretação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858000" y="4846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+ 1 passo no material completo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VOSviewer, CiteSpace, Bibliometrix (R), Gephi, BibExcel, Biblioshiny.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Apresentar números sem interpretação teórica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Análise de Citação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QUANTITATIVA/COMPUTACIONAL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Conta e analisa citações recebidas por artigos, autores ou periódicos. É a métrica bibliométrica mais simples e a base das outras análises relacionais.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Identificar obras seminais e autores-chave de um campo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Avaliar impacto científico (com cuidado e contextualização)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Etapa preliminar para cocitação ou acoplamento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Como única medida de qualidade (citações têm vieses)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Para campos jovens (não há tempo para acumular citações)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Coletar metadados com contagem de citações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Rankear unidades de análise (artigos, autores, journals)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Calcular indicadores (h-index, citações por ano)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Interpretar com cuidado contextual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WoS, Scopus, Google Scholar (com Publish or Perish), Bibliometrix.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Tratar contagem de citações como medida absoluta de qualidade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Análise de Cocitação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QUANTITATIVA/COMPUTACIONAL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Mede a frequência com que pares de obras (ou autores, ou journals) são citados juntos por outros artigos. Revela a estrutura intelectual passada — as raízes teóricas que sustentam o campo.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Mapear tradições teóricas e "escolas de pensamento"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Identificar obras-pilares e suas conexões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Estudos histórico-conceituais de campos consolidados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Para mapear pesquisa em curso (use acoplamento bibliográfico)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Em campos muito jovens (poucas citações ainda)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Coletar artigos do campo (citing articles)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Extrair as referências citadas (cited references)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Construir matriz de cocitação (frequência de pares co-citados)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Aplicar normalização (similaridade — cosseno, Salton, association strength)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46520" y="388620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Clusterizar (algoritmo de modularidade no VOSviewer ou similar)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46520" y="43891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0" y="4343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Interpretar clusters como tradições/escolas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858000" y="4846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+ 1 passo no material completo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VOSviewer, CiteSpace, Bibliometrix.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Confundir com acoplamento bibliográfico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Acoplamento Bibliográfico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QUANTITATIVA/COMPUTACIONAL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Mede a similaridade entre dois artigos pela quantidade de referências que ambos compartilham. Revela frentes de pesquisa atuais — quem está "falando da mesma coisa" agora.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Mapear frentes de pesquisa contemporâneas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Identificar agrupamentos temáticos atuais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Estudos sobre campos emergentes ou em transformação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Para mapear estrutura intelectual histórica (use cocitação)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Quando se quer identificar obras seminais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Coletar artigos do campo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Extrair lista de referências de cada artigo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Calcular pares de artigos com referências em comum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Construir matriz de acoplamento e normalizar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46520" y="388620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Clusterizar para revelar frentes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46520" y="43891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0" y="4343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Interpretar e nomear cada frente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VOSviewer, CiteSpace, Bibliometrix.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Confundir com cocitação (têm objetivos diferentes)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Coautoria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QUANTITATIVA/COMPUTACIONAL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Analisa redes de colaboração entre autores, instituições ou países. Revela a estrutura social do campo.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Mapear comunidades científicas e suas conexões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Identificar autores centrais e brokers (intermediários)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Estudos sobre internacionalização de um campo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Para mapear estrutura conceitual ou intelectual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Coletar metadados de autoria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Construir rede (nós = autores, arestas = coautoria)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Calcular métricas de rede (grau, betweenness, closeness)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Identificar comunidades (algoritmo de Louvain)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46520" y="388620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Visualizar e interpretar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VOSviewer, Gephi, UCINet, Bibliometrix.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Inflar redes com autocitações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Coocorrência de Palavras (Coword)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QUANTITATIVA/COMPUTACIONAL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Analisa pares de palavras-chave que aparecem juntas em artigos para revelar a estrutura conceitual do campo — os temas e suas relações.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Mapear estrutura conceitual e tópicos do campo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Identificar temas emergentes e em declínio (com análise temporal)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Complementar cocitação ou acoplamento com nível conceitual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Quando keywords são pobres ou inexistentes (use topic modeling)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Coletar artigos com keywords (author + indexer keywords)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Limpar e harmonizar (sinonímia, plural, capitalização)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Construir matriz de coocorrência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Clusterizar conceitualmente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46520" y="388620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Análise temporal (overlay) para tendências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46520" y="43891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0" y="4343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Interpretar com leitura qualitativa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VOSviewer, CiteSpace, Bibliometrix.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Pular limpeza de keywords (resultados ruidosos)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Meta-análise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QUANTITATIVA/COMPUTACIONAL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Síntese estatística que combina resultados de múltiplos estudos primários quantitativos para estimar um tamanho de efeito agregado, com seu intervalo de confiança e teste de heterogeneidade. É o padrão-ouro da síntese de evidência quantitativa.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Quando há múltiplos estudos quantitativos sobre a mesma relação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Para estimar tamanho de efeito médio de uma relação X→Y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Para testar moderadores e fontes de heterogeneidade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Quando os estudos são metodologicamente incomparáveis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Para sínteses qualitativas (use meta-síntese ou síntese temática)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Definir pergunta e protocolo (idealmente registrar)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Conduzir SLR como base para o corpus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Extrair tamanhos de efeito e estatísticas necessárias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Calcular tamanhos de efeito padronizados (d, r, OR, RR)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46520" y="388620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Escolher modelo (efeitos fixos vs. aleatórios — geralmente aleatórios)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46520" y="43891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0" y="4343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Combinar efeitos com pesos por inverso da variância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858000" y="4846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+ 4 passos no material completo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 (metafor, meta), CMA, Stata, RevMan, jamovi/JASP.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Garbage in, garbage out (corpus mal selecionado)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Topic Modeling (LDA) — ponte para revisão computacional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QUANTITATIVA/COMPUTACIONAL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Técnica de aprendizado de máquina não supervisionada que descobre tópicos latentes em grandes corpora textuais (abstracts, artigos completos). Latent Dirichlet Allocation (LDA) é a abordagem mais usada.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Corpora muito grandes (milhares de documentos)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Quando keywords são insuficientes ou inexistentes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Para descobrir tópicos não previstos pelo pesquisador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Em corpora pequenos (&lt; 200 docs)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Quando o objetivo é interpretação fina de poucos textos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Coletar corpus textual (abstracts ou full-texts)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Pré-processamento (tokenização, stopwords, lematização)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Definir número de tópicos K (perplexity, coherence)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Treinar modelo LDA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46520" y="388620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Inspecionar tópicos (top words por tópico)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46520" y="43891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0" y="4343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Nomear tópicos com leitura qualitativa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858000" y="4846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+ 1 passo no material completo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 (topicmodels, stm), Python (gensim, sklearn), MALLET.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K mal escolhido gera tópicos sem sentido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0" b="1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IV</a:t>
            </a:r>
            <a:endParaRPr lang="en-US" sz="28000" dirty="0"/>
          </a:p>
        </p:txBody>
      </p:sp>
      <p:sp>
        <p:nvSpPr>
          <p:cNvPr id="3" name="Shape 1"/>
          <p:cNvSpPr/>
          <p:nvPr/>
        </p:nvSpPr>
        <p:spPr>
          <a:xfrm>
            <a:off x="5029200" y="1828800"/>
            <a:ext cx="0" cy="320040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0" y="20116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FAMÍLIA IV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0" y="246888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spc="400" kern="0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Sínteses Qualitativas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0" y="3657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Interpretação além do somatório. Meta-etnografia e síntese temática.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0" y="5212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 abordagens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Meta-síntese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SÍNTESE QUALITATIVA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Termo guarda-chuva para sínteses qualitativas que vão além da soma dos estudos primários, gerando interpretação de mais alto nível. Distingue-se da meta-análise por NÃO ser quantitativa.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Quando há corpo significativo de estudos qualitativos sobre o mesmo fenômeno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Para construir teoria substantiva a partir de pesquisas qualitativas dispersas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Em fenômenos complexos onde a vivência do sujeito importa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Para evidência majoritariamente quantitativa (use meta-análise)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Como mero somatório descritivo (precisa haver síntese interpretativa)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Formular pergunta e estabelecer protocolo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Buscar literatura qualitativa (com filtros adequados)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Avaliar qualidade (CASP qualitativo)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Extrair temas, conceitos e metáforas dos estudos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46520" y="388620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Sintetizar (translação recíproca, síntese de linha de argumento, refutação)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46520" y="43891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0" y="4343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Construir interpretação de segundo ordem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858000" y="4846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+ 1 passo no material completo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NVivo, MAXQDA, Atlas.ti.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Confundir com revisão integrativa ou meta-etnografia (são variantes específicas)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Meta-etnografia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SÍNTESE QUALITATIVA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Método específico de meta-síntese proposto por Noblit &amp; Hare (1988), que sintetiza estudos qualitativos por meio de tradução recíproca de conceitos entre estudos. É a abordagem mais teoricamente sofisticada.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Sínteses interpretativas de estudos etnográficos ou afins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Para gerar teoria substantiva nova a partir de quali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Quando estudos abordam o mesmo fenômeno por ângulos próximos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Para corpus muito heterogêneo metodologicamente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Quando o objetivo é descritivo (use síntese temática)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Iniciar (definir tema)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Decidir o que é relevante (critérios de seleção)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Ler os estudos repetidamente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Determinar como os estudos se relacionam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46520" y="388620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Traduzir os estudos uns nos outros (translação recíproca)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46520" y="43891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0" y="4343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Sintetizar as traduções (síntese de linha de argumento ou refutação)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858000" y="4846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+ 1 passo no material completo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NVivo, MAXQDA.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Confundir com mera codificação temática agregada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Síntese Temática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SÍNTESE QUALITATIVA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Sintetiza estudos qualitativos por meio de codificação temática indutiva em três etapas: codificação livre, desenvolvimento de temas descritivos e geração de temas analíticos. Mais acessível que meta-etnografia.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Sínteses qualitativas quando se deseja método estruturado e replicável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Quando os estudos primários têm formatos heterogêneos de relato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Em campos aplicados (gestão, saúde, educação)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Quando se busca teoria substantiva nova (use meta-etnografia)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Para evidência quantitativa (use meta-análise)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Codificar linha por linha o material qualitativo dos estudos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Desenvolver temas descritivos (próximos aos dados)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Gerar temas analíticos (interpretação que vai além)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Reportar com transparência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NVivo, MAXQDA, Atlas.ti.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Ficar só no descritivo (sem geração analítica)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41148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0" b="1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V</a:t>
            </a:r>
            <a:endParaRPr lang="en-US" sz="28000" dirty="0"/>
          </a:p>
        </p:txBody>
      </p:sp>
      <p:sp>
        <p:nvSpPr>
          <p:cNvPr id="3" name="Shape 1"/>
          <p:cNvSpPr/>
          <p:nvPr/>
        </p:nvSpPr>
        <p:spPr>
          <a:xfrm>
            <a:off x="5029200" y="1828800"/>
            <a:ext cx="0" cy="320040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0" y="20116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FAMÍLIA V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0" y="246888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spc="400" kern="0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Frameworks de Administração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0" y="3657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TCCM, SPAR-4-SLR e ADO. Pensados para business e management.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0" y="5212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 frameworks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TCCM Framework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FRAMEWORK DE ADMINISTRAÇÃO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Framework para conduzir e estruturar revisões em management que organiza a literatura em quatro dimensões: Theory, Context, Characteristics e Methodology. Útil para revisões temáticas em business/management.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Revisões temáticas em business, marketing e international business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Quando se quer organizar a literatura em dimensões claras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Para identificar lacunas teóricas, contextuais, de variáveis e metodológicas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Para revisões em outras áreas (saúde, educação) onde frameworks específicos servem melhor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Quando a pergunta exige modelo distinto (ex.: realista, escopo)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Definir o construto/tema central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Mapear estudos por T (teorias usadas)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Mapear por C (contextos: país, indústria, organização)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Mapear por C (características: variáveis, antecedentes, consequentes)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46520" y="388620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Mapear por M (metodologias: quanti, quali, mistos)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46520" y="43891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0" y="4343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Identificar lacunas em cada dimensão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858000" y="4846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+ 1 passo no material completo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Excel, Mendeley/Zotero, NVivo opcional.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Apresentar como SLR sem aderir ao TCCM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SPAR-4-SLR Protocol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FRAMEWORK DE ADMINISTRAÇÃO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Protocolo de procedimentos científicos para SLR proposto por Paul et al. (2021), específico para business e management. Organiza a SLR em três etapas: Assembling, Arranging e Assessing, cada uma com sub-procedimentos.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SLRs em business, marketing, management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Quando se quer aderência a um protocolo específico do campo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Para artigos voltados a journals de admin que pedem rigor metodológico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Para revisões fora de business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Quando outros protocolos (PRISMA, JBI) já bastam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ASSEMBLING — Identification (domínio, fonte, tipo de fonte, cobertura)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ASSEMBLING — Acquisition (busca, palavras-chave, filtros, critérios de inclusão)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ARRANGING — Organization (codificação, classificação)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ARRANGING — Purification (revisão crítica do corpus, ajustes)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46520" y="388620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ASSESSING — Evaluation (análise de conteúdo, bibliométrica, etc.)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46520" y="43891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0" y="4343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ASSESSING — Reporting (achados, agenda, limitações)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Mendeley/Zotero, Excel, Rayyan, VOSviewer (se combinar com bibliometria).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Apresentar como SPAR-4-SLR sem seguir os 6 sub-passos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ADO Framework (Antecedents–Decisions–Outcomes)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spc="600" kern="0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FRAMEWORK DE ADMINISTRAÇÃO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DEFINIÇÃO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Framework para organizar revisões temáticas em management identificando o que vem antes do fenômeno (antecedentes), as decisões/processos centrais e o que resulta (outcomes). Excelente para construir modelos integradores.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754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USAR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Para construir modelos integradores a partir de revisão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Em revisões temáticas focadas em um construto central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✓ Como complemento ao TCCM (TCCM-ADO)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QUANDO NÃO USAR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5257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Quando o tema não envolve cadeia causal A→D→O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✗ Para mapeamento descritivo amplo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1417320"/>
            <a:ext cx="5486400" cy="498348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PASSO A PASSO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46520" y="18745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Definir o construto/decisão central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46520" y="237744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331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Mapear antecedentes (categorias e variáveis)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46520" y="288036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Mapear decisões/processos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46520" y="338328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3375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Mapear outcomes (consequentes)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46520" y="388620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Construir modelo integrador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46520" y="4389120"/>
            <a:ext cx="292608" cy="292608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0" y="4343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Apontar gaps em cada dimensão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46520" y="5074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FERRAMENTAS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46520" y="52760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Excel para mapeamento, software de modelagem (draw.io, Lucidchart).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46520" y="58521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861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ARMADILHA-CHAVE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46520" y="6053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⚠ Listar variáveis sem categorização teórica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Tabela Comparativa — visão rápida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43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Use esta visão de uma página para decisões iniciais. O material completo traz as 23 abordagens com detalhes operacionais.</a:t>
            </a:r>
            <a:endParaRPr lang="en-US" sz="1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291840"/>
                <a:gridCol w="3200400"/>
                <a:gridCol w="21945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0F1E"/>
                          </a:solidFill>
                          <a:latin typeface="Cinzel" pitchFamily="34" charset="0"/>
                          <a:ea typeface="Cinzel" pitchFamily="34" charset="-122"/>
                          <a:cs typeface="Cinzel" pitchFamily="34" charset="-120"/>
                        </a:rPr>
                        <a:t>Abordagem</a:t>
                      </a:r>
                      <a:endParaRPr lang="en-US" sz="1100" dirty="0">
                        <a:latin typeface="Cinzel" charset="0"/>
                        <a:ea typeface="Cinzel" charset="0"/>
                        <a:cs typeface="Cinze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AF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0F1E"/>
                          </a:solidFill>
                          <a:latin typeface="Cinzel" pitchFamily="34" charset="0"/>
                          <a:ea typeface="Cinzel" pitchFamily="34" charset="-122"/>
                          <a:cs typeface="Cinzel" pitchFamily="34" charset="-120"/>
                        </a:rPr>
                        <a:t>Pergunta típica</a:t>
                      </a:r>
                      <a:endParaRPr lang="en-US" sz="1100" dirty="0">
                        <a:latin typeface="Cinzel" charset="0"/>
                        <a:ea typeface="Cinzel" charset="0"/>
                        <a:cs typeface="Cinze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AF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0F1E"/>
                          </a:solidFill>
                          <a:latin typeface="Cinzel" pitchFamily="34" charset="0"/>
                          <a:ea typeface="Cinzel" pitchFamily="34" charset="-122"/>
                          <a:cs typeface="Cinzel" pitchFamily="34" charset="-120"/>
                        </a:rPr>
                        <a:t>Tipo de dado</a:t>
                      </a:r>
                      <a:endParaRPr lang="en-US" sz="1100" dirty="0">
                        <a:latin typeface="Cinzel" charset="0"/>
                        <a:ea typeface="Cinzel" charset="0"/>
                        <a:cs typeface="Cinze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AF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0F1E"/>
                          </a:solidFill>
                          <a:latin typeface="Cinzel" pitchFamily="34" charset="0"/>
                          <a:ea typeface="Cinzel" pitchFamily="34" charset="-122"/>
                          <a:cs typeface="Cinzel" pitchFamily="34" charset="-120"/>
                        </a:rPr>
                        <a:t>Esforço</a:t>
                      </a:r>
                      <a:endParaRPr lang="en-US" sz="1100" dirty="0">
                        <a:latin typeface="Cinzel" charset="0"/>
                        <a:ea typeface="Cinzel" charset="0"/>
                        <a:cs typeface="Cinze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AF3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Narrativa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Argumento livre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Texto qualitativo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Baixo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Estado da arte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Onde está a fronteira?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Texto qualitativo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Médio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Ensaio teórico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Que teoria nova?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Texto qualitativo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Médio-alto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Sistemática (SLR)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X afeta Y?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Empírico (quali/quanti)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Alto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Escopo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 que se sabe sobre X?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Mapeamento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Médio-alto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Integrativa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Integrar quali + quanti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Misto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Alto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Realista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Funciona p/ quem?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Misto + mecanismos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Alto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Bibliometria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Estrutura do campo?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Metadados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Médio-alto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Meta-análise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Tamanho de efeito?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Estatísticas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Muito alto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Topic Modeling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Tópicos latentes?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Texto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Alto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Síntese Temática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Temas analíticos?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Estudos quali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Médio-alto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Meta-etnografia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Teoria substantiva?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Estudos quali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Muito alto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4AF37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TCCM / SPAR / ADO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Revisão em admin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Misto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F0E1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Médio-alto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B69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Quatro Bibliometrias — quando usar cada uma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25880"/>
            <a:ext cx="5486400" cy="242316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◊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417320" y="1554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COCITAÇÃO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Quais as raízes intelectuais?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4937760" cy="0"/>
          </a:xfrm>
          <a:prstGeom prst="line">
            <a:avLst/>
          </a:prstGeom>
          <a:noFill/>
          <a:ln w="9525">
            <a:solidFill>
              <a:srgbClr val="8B691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51460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Estrutura intelectual passada — pares de obras citadas juntas. Revela as escolas de pensamento.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1325880"/>
            <a:ext cx="5486400" cy="242316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◈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7269480" y="15544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ACOPLAMENTO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26948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Quais as frentes atuais?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83680" y="2423160"/>
            <a:ext cx="4937760" cy="0"/>
          </a:xfrm>
          <a:prstGeom prst="line">
            <a:avLst/>
          </a:prstGeom>
          <a:noFill/>
          <a:ln w="9525">
            <a:solidFill>
              <a:srgbClr val="8B691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251460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Frentes contemporâneas — artigos que compartilham referências. Revela os agrupamentos do agora.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5486400" cy="242316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069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✦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1417320" y="41605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COAUTORIA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17320" y="45720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Quem colabora com quem?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5029200"/>
            <a:ext cx="4937760" cy="0"/>
          </a:xfrm>
          <a:prstGeom prst="line">
            <a:avLst/>
          </a:prstGeom>
          <a:noFill/>
          <a:ln w="9525">
            <a:solidFill>
              <a:srgbClr val="8B691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12064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Estrutura social — redes de pesquisadores, instituições, países. Identifica hubs e brokers.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3931920"/>
            <a:ext cx="5486400" cy="2423160"/>
          </a:xfrm>
          <a:prstGeom prst="rect">
            <a:avLst/>
          </a:prstGeom>
          <a:solidFill>
            <a:srgbClr val="242440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4069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✧</a:t>
            </a:r>
            <a:endParaRPr lang="en-US" sz="3800" dirty="0"/>
          </a:p>
        </p:txBody>
      </p:sp>
      <p:sp>
        <p:nvSpPr>
          <p:cNvPr id="24" name="Text 22"/>
          <p:cNvSpPr/>
          <p:nvPr/>
        </p:nvSpPr>
        <p:spPr>
          <a:xfrm>
            <a:off x="7269480" y="41605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COWORD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269480" y="45720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Que temas dominam?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583680" y="5029200"/>
            <a:ext cx="4937760" cy="0"/>
          </a:xfrm>
          <a:prstGeom prst="line">
            <a:avLst/>
          </a:prstGeom>
          <a:noFill/>
          <a:ln w="9525">
            <a:solidFill>
              <a:srgbClr val="8B691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512064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Estrutura conceitual — palavras-chave que aparecem juntas. Mostra tópicos e tendências.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Combinações Frequentes em Journals Top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2880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430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9B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Teses e papers raramente usam uma abordagem isolada. Estas são as combinações mais frequentes em journals top de admin nos últimos anos: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274320" cy="27432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Bibliometria + SLR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3172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Bibliometria mapeia o campo (corpus grande); SLR aprofunda no sub-tema mais relevante.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09360" y="2011680"/>
            <a:ext cx="274320" cy="27432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+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20840" y="19659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SLR + Meta-análise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20840" y="233172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SLR seleciona estudos; meta-análise estima o tamanho de efeito agregado.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429000"/>
            <a:ext cx="274320" cy="27432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29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+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33832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Cocitação + Acoplamento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74904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Cocitação revela as raízes; acoplamento mostra as frentes. Diagnóstico completo do campo.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309360" y="3429000"/>
            <a:ext cx="274320" cy="27432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3429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+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720840" y="33832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TCCM + SPAR-4-SLR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720840" y="374904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SPAR-4-SLR organiza o protocolo; TCCM organiza a apresentação dos achados.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846320"/>
            <a:ext cx="274320" cy="27432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+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68680" y="4800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Topic Modeling + Bibliometria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68680" y="516636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LDA descobre tópicos latentes; bibliometria contextualiza com autores e citações.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309360" y="4846320"/>
            <a:ext cx="274320" cy="27432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0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0F1E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+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720840" y="4800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0E1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Síntese Temática + ADO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20840" y="516636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Síntese temática extrai padrões; ADO organiza em modelo Antecedentes–Decisões–Outcomes.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8A39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MTPQI · Família das Revisões de Literatura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551615" y="6492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◊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0116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"A revisão de literatura não é tarefa secundária —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260604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é frequentemente o que diferencia uma submissão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5F0E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aceita de uma rejeitada na desk-review."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0" y="4206240"/>
            <a:ext cx="2103120" cy="0"/>
          </a:xfrm>
          <a:prstGeom prst="line">
            <a:avLst/>
          </a:prstGeom>
          <a:noFill/>
          <a:ln w="19050">
            <a:solidFill>
              <a:srgbClr val="D4A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57200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D4AF37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PRÓXIMOS PASSOS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9834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CC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Material completo (PDF / DOCX) · Widget interativo de decisão · Discussão em sala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9B3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Prof. Leonardo Vils · MTPQI · UNINOVE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Família das Revisões de Literatura — MTPQI</dc:title>
  <dc:subject>PptxGenJS Presentation</dc:subject>
  <dc:creator>Leonardo Vils</dc:creator>
  <cp:lastModifiedBy>Leonardo Vils</cp:lastModifiedBy>
  <cp:revision>1</cp:revision>
  <dcterms:created xsi:type="dcterms:W3CDTF">2026-05-06T18:14:57Z</dcterms:created>
  <dcterms:modified xsi:type="dcterms:W3CDTF">2026-05-06T18:14:57Z</dcterms:modified>
</cp:coreProperties>
</file>